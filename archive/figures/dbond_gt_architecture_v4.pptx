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051560"/>
            <a:ext cx="1847088" cy="3310128"/>
          </a:xfrm>
          <a:prstGeom prst="roundRect">
            <a:avLst>
              <a:gd name="adj" fmla="val 34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84048" y="1051560"/>
            <a:ext cx="1847088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1307592"/>
            <a:ext cx="1847088" cy="14630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512064" y="109728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0352" y="17647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BFDBFE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7647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BBF7D0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98448" y="17647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DE68A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98448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82496" y="176479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BCFE8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82496" y="1764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17647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⋯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" y="1984248"/>
            <a:ext cx="1536192" cy="45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9514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" y="2569464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" y="25694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" y="3026664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F0FDFA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30266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pep_mass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" y="3483864"/>
            <a:ext cx="1554480" cy="365760"/>
          </a:xfrm>
          <a:prstGeom prst="roundRect">
            <a:avLst>
              <a:gd name="adj" fmla="val 25000"/>
            </a:avLst>
          </a:prstGeom>
          <a:solidFill>
            <a:srgbClr val="F5F3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34838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42032" y="1051560"/>
            <a:ext cx="2249424" cy="3310128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42032" y="1051560"/>
            <a:ext cx="2249424" cy="384048"/>
          </a:xfrm>
          <a:prstGeom prst="roundRect">
            <a:avLst>
              <a:gd name="adj" fmla="val 16667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42032" y="1307592"/>
            <a:ext cx="2249424" cy="146304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7" name="Text 25"/>
          <p:cNvSpPr/>
          <p:nvPr/>
        </p:nvSpPr>
        <p:spPr>
          <a:xfrm>
            <a:off x="2670048" y="109728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Residue graph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493008" y="1709928"/>
            <a:ext cx="347472" cy="347472"/>
          </a:xfrm>
          <a:prstGeom prst="ellipse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493008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v_g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70632" y="28620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770632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46120" y="28620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4612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21608" y="28620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721608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97096" y="28620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197096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136392" y="3044952"/>
            <a:ext cx="109728" cy="4572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11880" y="3044952"/>
            <a:ext cx="109728" cy="4572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87368" y="3044952"/>
            <a:ext cx="109728" cy="4572"/>
          </a:xfrm>
          <a:prstGeom prst="line">
            <a:avLst/>
          </a:prstGeom>
          <a:noFill/>
          <a:ln w="2032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50108" y="3003804"/>
            <a:ext cx="82296" cy="82296"/>
          </a:xfrm>
          <a:prstGeom prst="diamond">
            <a:avLst/>
          </a:prstGeom>
          <a:solidFill>
            <a:srgbClr val="D97706"/>
          </a:solidFill>
          <a:ln/>
        </p:spPr>
      </p:sp>
      <p:sp>
        <p:nvSpPr>
          <p:cNvPr id="42" name="Shape 40"/>
          <p:cNvSpPr/>
          <p:nvPr/>
        </p:nvSpPr>
        <p:spPr>
          <a:xfrm>
            <a:off x="3625596" y="3003804"/>
            <a:ext cx="82296" cy="82296"/>
          </a:xfrm>
          <a:prstGeom prst="diamond">
            <a:avLst/>
          </a:prstGeom>
          <a:solidFill>
            <a:srgbClr val="D97706"/>
          </a:solidFill>
          <a:ln/>
        </p:spPr>
      </p:sp>
      <p:sp>
        <p:nvSpPr>
          <p:cNvPr id="43" name="Shape 41"/>
          <p:cNvSpPr/>
          <p:nvPr/>
        </p:nvSpPr>
        <p:spPr>
          <a:xfrm>
            <a:off x="4101084" y="3003804"/>
            <a:ext cx="82296" cy="82296"/>
          </a:xfrm>
          <a:prstGeom prst="diamond">
            <a:avLst/>
          </a:prstGeom>
          <a:solidFill>
            <a:srgbClr val="D97706"/>
          </a:solidFill>
          <a:ln/>
        </p:spPr>
      </p:sp>
      <p:sp>
        <p:nvSpPr>
          <p:cNvPr id="44" name="Shape 42"/>
          <p:cNvSpPr/>
          <p:nvPr/>
        </p:nvSpPr>
        <p:spPr>
          <a:xfrm flipV="1">
            <a:off x="2953512" y="2806111"/>
            <a:ext cx="95098" cy="55961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45" name="Shape 43"/>
          <p:cNvSpPr/>
          <p:nvPr/>
        </p:nvSpPr>
        <p:spPr>
          <a:xfrm flipV="1">
            <a:off x="3048610" y="2762585"/>
            <a:ext cx="95098" cy="43525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46" name="Shape 44"/>
          <p:cNvSpPr/>
          <p:nvPr/>
        </p:nvSpPr>
        <p:spPr>
          <a:xfrm flipV="1">
            <a:off x="3143707" y="2731496"/>
            <a:ext cx="95098" cy="31090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47" name="Shape 45"/>
          <p:cNvSpPr/>
          <p:nvPr/>
        </p:nvSpPr>
        <p:spPr>
          <a:xfrm flipV="1">
            <a:off x="3238805" y="2712842"/>
            <a:ext cx="95098" cy="18654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48" name="Shape 46"/>
          <p:cNvSpPr/>
          <p:nvPr/>
        </p:nvSpPr>
        <p:spPr>
          <a:xfrm flipV="1">
            <a:off x="3333902" y="2706624"/>
            <a:ext cx="95098" cy="6218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49" name="Shape 47"/>
          <p:cNvSpPr/>
          <p:nvPr/>
        </p:nvSpPr>
        <p:spPr>
          <a:xfrm>
            <a:off x="3429000" y="2706624"/>
            <a:ext cx="95098" cy="6218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50" name="Shape 48"/>
          <p:cNvSpPr/>
          <p:nvPr/>
        </p:nvSpPr>
        <p:spPr>
          <a:xfrm>
            <a:off x="3524098" y="2712842"/>
            <a:ext cx="95098" cy="18654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51" name="Shape 49"/>
          <p:cNvSpPr/>
          <p:nvPr/>
        </p:nvSpPr>
        <p:spPr>
          <a:xfrm>
            <a:off x="3619195" y="2731496"/>
            <a:ext cx="95098" cy="31090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52" name="Shape 50"/>
          <p:cNvSpPr/>
          <p:nvPr/>
        </p:nvSpPr>
        <p:spPr>
          <a:xfrm>
            <a:off x="3714293" y="2762585"/>
            <a:ext cx="95098" cy="43525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53" name="Shape 51"/>
          <p:cNvSpPr/>
          <p:nvPr/>
        </p:nvSpPr>
        <p:spPr>
          <a:xfrm>
            <a:off x="3809390" y="2806111"/>
            <a:ext cx="95098" cy="55961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54" name="Shape 52"/>
          <p:cNvSpPr/>
          <p:nvPr/>
        </p:nvSpPr>
        <p:spPr>
          <a:xfrm flipV="1">
            <a:off x="3429000" y="2806111"/>
            <a:ext cx="95098" cy="55961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55" name="Shape 53"/>
          <p:cNvSpPr/>
          <p:nvPr/>
        </p:nvSpPr>
        <p:spPr>
          <a:xfrm flipV="1">
            <a:off x="3524098" y="2762585"/>
            <a:ext cx="95098" cy="43525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56" name="Shape 54"/>
          <p:cNvSpPr/>
          <p:nvPr/>
        </p:nvSpPr>
        <p:spPr>
          <a:xfrm flipV="1">
            <a:off x="3619195" y="2731496"/>
            <a:ext cx="95098" cy="31090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57" name="Shape 55"/>
          <p:cNvSpPr/>
          <p:nvPr/>
        </p:nvSpPr>
        <p:spPr>
          <a:xfrm flipV="1">
            <a:off x="3714293" y="2712842"/>
            <a:ext cx="95098" cy="18654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58" name="Shape 56"/>
          <p:cNvSpPr/>
          <p:nvPr/>
        </p:nvSpPr>
        <p:spPr>
          <a:xfrm flipV="1">
            <a:off x="3809390" y="2706624"/>
            <a:ext cx="95098" cy="6218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59" name="Shape 57"/>
          <p:cNvSpPr/>
          <p:nvPr/>
        </p:nvSpPr>
        <p:spPr>
          <a:xfrm>
            <a:off x="3904488" y="2706624"/>
            <a:ext cx="95098" cy="6218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60" name="Shape 58"/>
          <p:cNvSpPr/>
          <p:nvPr/>
        </p:nvSpPr>
        <p:spPr>
          <a:xfrm>
            <a:off x="3999586" y="2712842"/>
            <a:ext cx="95098" cy="18654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61" name="Shape 59"/>
          <p:cNvSpPr/>
          <p:nvPr/>
        </p:nvSpPr>
        <p:spPr>
          <a:xfrm>
            <a:off x="4094683" y="2731496"/>
            <a:ext cx="95098" cy="31090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62" name="Shape 60"/>
          <p:cNvSpPr/>
          <p:nvPr/>
        </p:nvSpPr>
        <p:spPr>
          <a:xfrm>
            <a:off x="4189781" y="2762585"/>
            <a:ext cx="95098" cy="43525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63" name="Shape 61"/>
          <p:cNvSpPr/>
          <p:nvPr/>
        </p:nvSpPr>
        <p:spPr>
          <a:xfrm>
            <a:off x="4284878" y="2806111"/>
            <a:ext cx="95098" cy="55961"/>
          </a:xfrm>
          <a:prstGeom prst="line">
            <a:avLst/>
          </a:prstGeom>
          <a:noFill/>
          <a:ln w="13970">
            <a:solidFill>
              <a:srgbClr val="7C3AED"/>
            </a:solidFill>
            <a:prstDash val="sysDash"/>
          </a:ln>
        </p:spPr>
      </p:sp>
      <p:sp>
        <p:nvSpPr>
          <p:cNvPr id="64" name="Shape 62"/>
          <p:cNvSpPr/>
          <p:nvPr/>
        </p:nvSpPr>
        <p:spPr>
          <a:xfrm flipH="1">
            <a:off x="3569086" y="2057400"/>
            <a:ext cx="97658" cy="103510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65" name="Shape 63"/>
          <p:cNvSpPr/>
          <p:nvPr/>
        </p:nvSpPr>
        <p:spPr>
          <a:xfrm flipH="1">
            <a:off x="3477280" y="2160910"/>
            <a:ext cx="91806" cy="98389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66" name="Shape 64"/>
          <p:cNvSpPr/>
          <p:nvPr/>
        </p:nvSpPr>
        <p:spPr>
          <a:xfrm flipH="1">
            <a:off x="3391327" y="2259300"/>
            <a:ext cx="85954" cy="93269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67" name="Shape 65"/>
          <p:cNvSpPr/>
          <p:nvPr/>
        </p:nvSpPr>
        <p:spPr>
          <a:xfrm flipH="1">
            <a:off x="3311225" y="2352568"/>
            <a:ext cx="80101" cy="88148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68" name="Shape 66"/>
          <p:cNvSpPr/>
          <p:nvPr/>
        </p:nvSpPr>
        <p:spPr>
          <a:xfrm flipH="1">
            <a:off x="3236976" y="2440716"/>
            <a:ext cx="74249" cy="83028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69" name="Shape 67"/>
          <p:cNvSpPr/>
          <p:nvPr/>
        </p:nvSpPr>
        <p:spPr>
          <a:xfrm flipH="1">
            <a:off x="3168579" y="2523744"/>
            <a:ext cx="68397" cy="77907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70" name="Shape 68"/>
          <p:cNvSpPr/>
          <p:nvPr/>
        </p:nvSpPr>
        <p:spPr>
          <a:xfrm flipH="1">
            <a:off x="3106034" y="2601651"/>
            <a:ext cx="62545" cy="72786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71" name="Shape 69"/>
          <p:cNvSpPr/>
          <p:nvPr/>
        </p:nvSpPr>
        <p:spPr>
          <a:xfrm flipH="1">
            <a:off x="3049341" y="2674437"/>
            <a:ext cx="56693" cy="67666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72" name="Shape 70"/>
          <p:cNvSpPr/>
          <p:nvPr/>
        </p:nvSpPr>
        <p:spPr>
          <a:xfrm flipH="1">
            <a:off x="2998500" y="2742103"/>
            <a:ext cx="50841" cy="62545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73" name="Shape 71"/>
          <p:cNvSpPr/>
          <p:nvPr/>
        </p:nvSpPr>
        <p:spPr>
          <a:xfrm flipH="1">
            <a:off x="2953512" y="2804648"/>
            <a:ext cx="44988" cy="57424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74" name="Shape 72"/>
          <p:cNvSpPr/>
          <p:nvPr/>
        </p:nvSpPr>
        <p:spPr>
          <a:xfrm>
            <a:off x="3666744" y="2057400"/>
            <a:ext cx="97658" cy="103510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75" name="Shape 73"/>
          <p:cNvSpPr/>
          <p:nvPr/>
        </p:nvSpPr>
        <p:spPr>
          <a:xfrm>
            <a:off x="3764402" y="2160910"/>
            <a:ext cx="91806" cy="98389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76" name="Shape 74"/>
          <p:cNvSpPr/>
          <p:nvPr/>
        </p:nvSpPr>
        <p:spPr>
          <a:xfrm>
            <a:off x="3856208" y="2259300"/>
            <a:ext cx="85954" cy="93269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77" name="Shape 75"/>
          <p:cNvSpPr/>
          <p:nvPr/>
        </p:nvSpPr>
        <p:spPr>
          <a:xfrm>
            <a:off x="3942161" y="2352568"/>
            <a:ext cx="80101" cy="88148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78" name="Shape 76"/>
          <p:cNvSpPr/>
          <p:nvPr/>
        </p:nvSpPr>
        <p:spPr>
          <a:xfrm>
            <a:off x="4022263" y="2440716"/>
            <a:ext cx="74249" cy="83028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79" name="Shape 77"/>
          <p:cNvSpPr/>
          <p:nvPr/>
        </p:nvSpPr>
        <p:spPr>
          <a:xfrm>
            <a:off x="4096512" y="2523744"/>
            <a:ext cx="68397" cy="77907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80" name="Shape 78"/>
          <p:cNvSpPr/>
          <p:nvPr/>
        </p:nvSpPr>
        <p:spPr>
          <a:xfrm>
            <a:off x="4164909" y="2601651"/>
            <a:ext cx="62545" cy="72786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81" name="Shape 79"/>
          <p:cNvSpPr/>
          <p:nvPr/>
        </p:nvSpPr>
        <p:spPr>
          <a:xfrm>
            <a:off x="4227454" y="2674437"/>
            <a:ext cx="56693" cy="67666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82" name="Shape 80"/>
          <p:cNvSpPr/>
          <p:nvPr/>
        </p:nvSpPr>
        <p:spPr>
          <a:xfrm>
            <a:off x="4284147" y="2742103"/>
            <a:ext cx="50841" cy="62545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83" name="Shape 81"/>
          <p:cNvSpPr/>
          <p:nvPr/>
        </p:nvSpPr>
        <p:spPr>
          <a:xfrm>
            <a:off x="4334988" y="2804648"/>
            <a:ext cx="44988" cy="57424"/>
          </a:xfrm>
          <a:prstGeom prst="line">
            <a:avLst/>
          </a:prstGeom>
          <a:noFill/>
          <a:ln w="11430">
            <a:solidFill>
              <a:srgbClr val="7C3AED"/>
            </a:solidFill>
            <a:prstDash val="sysDot"/>
          </a:ln>
        </p:spPr>
      </p:sp>
      <p:sp>
        <p:nvSpPr>
          <p:cNvPr id="84" name="Text 82"/>
          <p:cNvSpPr/>
          <p:nvPr/>
        </p:nvSpPr>
        <p:spPr>
          <a:xfrm>
            <a:off x="2633472" y="3447288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4E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distance window  R = 5  (|i − j| ≤ 5)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2633472" y="3721608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peptide bond = prediction target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dashed = window edges · dotted = global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5102352" y="1051560"/>
            <a:ext cx="1938528" cy="33101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5102352" y="1051560"/>
            <a:ext cx="1938528" cy="38404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102352" y="1307592"/>
            <a:ext cx="1938528" cy="14630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89" name="Text 87"/>
          <p:cNvSpPr/>
          <p:nvPr/>
        </p:nvSpPr>
        <p:spPr>
          <a:xfrm>
            <a:off x="5230368" y="10972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Encoding</a:t>
            </a:r>
            <a:endParaRPr lang="en-US" sz="1250" dirty="0"/>
          </a:p>
        </p:txBody>
      </p:sp>
      <p:sp>
        <p:nvSpPr>
          <p:cNvPr id="90" name="Shape 88"/>
          <p:cNvSpPr/>
          <p:nvPr/>
        </p:nvSpPr>
        <p:spPr>
          <a:xfrm>
            <a:off x="5248656" y="1618488"/>
            <a:ext cx="1645920" cy="768096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5340096" y="16916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 hᵢ ∈ ℝ²⁵⁶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5340096" y="19842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AA ⊕ pos ⊕ physchem ⊕ state/env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248656" y="2514600"/>
            <a:ext cx="1645920" cy="768096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5340096" y="2587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 eᵢⱼ ∈ ℝ²⁵⁶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5340096" y="28803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⊕ distance ⊕ attrs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248656" y="3410712"/>
            <a:ext cx="1645920" cy="768096"/>
          </a:xfrm>
          <a:prstGeom prst="roundRect">
            <a:avLst>
              <a:gd name="adj" fmla="val 7143"/>
            </a:avLst>
          </a:prstGeom>
          <a:solidFill>
            <a:srgbClr val="F5F3FF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5340096" y="34838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node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5340096" y="37764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 ⊕ condition proj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296912" y="1051560"/>
            <a:ext cx="2139696" cy="331012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7296912" y="1051560"/>
            <a:ext cx="2139696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296912" y="1307592"/>
            <a:ext cx="2139696" cy="14630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7424928" y="1097280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passing</a:t>
            </a:r>
            <a:endParaRPr lang="en-US" sz="1250" dirty="0"/>
          </a:p>
        </p:txBody>
      </p:sp>
      <p:sp>
        <p:nvSpPr>
          <p:cNvPr id="103" name="Shape 101"/>
          <p:cNvSpPr/>
          <p:nvPr/>
        </p:nvSpPr>
        <p:spPr>
          <a:xfrm>
            <a:off x="7626096" y="1728216"/>
            <a:ext cx="1810512" cy="713232"/>
          </a:xfrm>
          <a:prstGeom prst="roundRect">
            <a:avLst>
              <a:gd name="adj" fmla="val 7692"/>
            </a:avLst>
          </a:prstGeom>
          <a:solidFill>
            <a:srgbClr val="E2E8F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7543800" y="1645920"/>
            <a:ext cx="1810512" cy="713232"/>
          </a:xfrm>
          <a:prstGeom prst="roundRect">
            <a:avLst>
              <a:gd name="adj" fmla="val 7692"/>
            </a:avLst>
          </a:prstGeom>
          <a:solidFill>
            <a:srgbClr val="E2E8F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461504" y="1563624"/>
            <a:ext cx="1810512" cy="713232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7461504" y="161848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× gated residual GCN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7461504" y="19110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neighborhood aggregation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8366760" y="2350008"/>
            <a:ext cx="4572" cy="219456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7626096" y="2807208"/>
            <a:ext cx="1810512" cy="859536"/>
          </a:xfrm>
          <a:prstGeom prst="roundRect">
            <a:avLst>
              <a:gd name="adj" fmla="val 6383"/>
            </a:avLst>
          </a:prstGeom>
          <a:solidFill>
            <a:srgbClr val="E2E8F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543800" y="2724912"/>
            <a:ext cx="1810512" cy="859536"/>
          </a:xfrm>
          <a:prstGeom prst="roundRect">
            <a:avLst>
              <a:gd name="adj" fmla="val 6383"/>
            </a:avLst>
          </a:prstGeom>
          <a:solidFill>
            <a:srgbClr val="E2E8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461504" y="2642616"/>
            <a:ext cx="1810512" cy="859536"/>
          </a:xfrm>
          <a:prstGeom prst="roundRect">
            <a:avLst>
              <a:gd name="adj" fmla="val 6383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7461504" y="269748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× edge-aware GAT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8069580" y="3026664"/>
            <a:ext cx="100584" cy="100584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8193024" y="3026664"/>
            <a:ext cx="100584" cy="100584"/>
          </a:xfrm>
          <a:prstGeom prst="rect">
            <a:avLst/>
          </a:prstGeom>
          <a:solidFill>
            <a:srgbClr val="2563EB">
              <a:alpha val="89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8316468" y="3026664"/>
            <a:ext cx="100584" cy="100584"/>
          </a:xfrm>
          <a:prstGeom prst="rect">
            <a:avLst/>
          </a:prstGeom>
          <a:solidFill>
            <a:srgbClr val="2563EB">
              <a:alpha val="34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8439912" y="3026664"/>
            <a:ext cx="100584" cy="100584"/>
          </a:xfrm>
          <a:prstGeom prst="rect">
            <a:avLst/>
          </a:prstGeom>
          <a:solidFill>
            <a:srgbClr val="2563EB">
              <a:alpha val="84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8563356" y="3026664"/>
            <a:ext cx="100584" cy="100584"/>
          </a:xfrm>
          <a:prstGeom prst="rect">
            <a:avLst/>
          </a:prstGeom>
          <a:solidFill>
            <a:srgbClr val="2563EB">
              <a:alpha val="52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8069580" y="3150108"/>
            <a:ext cx="100584" cy="100584"/>
          </a:xfrm>
          <a:prstGeom prst="rect">
            <a:avLst/>
          </a:prstGeom>
          <a:solidFill>
            <a:srgbClr val="2563EB">
              <a:alpha val="75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8193024" y="3150108"/>
            <a:ext cx="100584" cy="100584"/>
          </a:xfrm>
          <a:prstGeom prst="rect">
            <a:avLst/>
          </a:prstGeom>
          <a:solidFill>
            <a:srgbClr val="2563EB">
              <a:alpha val="67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8316468" y="3150108"/>
            <a:ext cx="100584" cy="100584"/>
          </a:xfrm>
          <a:prstGeom prst="rect">
            <a:avLst/>
          </a:prstGeom>
          <a:solidFill>
            <a:srgbClr val="2563EB">
              <a:alpha val="61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8439912" y="3150108"/>
            <a:ext cx="100584" cy="100584"/>
          </a:xfrm>
          <a:prstGeom prst="rect">
            <a:avLst/>
          </a:prstGeom>
          <a:solidFill>
            <a:srgbClr val="2563EB">
              <a:alpha val="79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8563356" y="3150108"/>
            <a:ext cx="100584" cy="100584"/>
          </a:xfrm>
          <a:prstGeom prst="rect">
            <a:avLst/>
          </a:prstGeom>
          <a:solidFill>
            <a:srgbClr val="2563EB">
              <a:alpha val="45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8069580" y="3273552"/>
            <a:ext cx="100584" cy="100584"/>
          </a:xfrm>
          <a:prstGeom prst="rect">
            <a:avLst/>
          </a:prstGeom>
          <a:solidFill>
            <a:srgbClr val="2563EB">
              <a:alpha val="87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8193024" y="3273552"/>
            <a:ext cx="100584" cy="100584"/>
          </a:xfrm>
          <a:prstGeom prst="rect">
            <a:avLst/>
          </a:prstGeom>
          <a:solidFill>
            <a:srgbClr val="2563EB">
              <a:alpha val="26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8316468" y="3273552"/>
            <a:ext cx="100584" cy="100584"/>
          </a:xfrm>
          <a:prstGeom prst="rect">
            <a:avLst/>
          </a:prstGeom>
          <a:solidFill>
            <a:srgbClr val="2563EB">
              <a:alpha val="90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8439912" y="3273552"/>
            <a:ext cx="100584" cy="100584"/>
          </a:xfrm>
          <a:prstGeom prst="rect">
            <a:avLst/>
          </a:prstGeom>
          <a:solidFill>
            <a:srgbClr val="2563EB">
              <a:alpha val="23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8563356" y="3273552"/>
            <a:ext cx="100584" cy="100584"/>
          </a:xfrm>
          <a:prstGeom prst="rect">
            <a:avLst/>
          </a:prstGeom>
          <a:solidFill>
            <a:srgbClr val="2563EB">
              <a:alpha val="88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8069580" y="3396996"/>
            <a:ext cx="100584" cy="100584"/>
          </a:xfrm>
          <a:prstGeom prst="rect">
            <a:avLst/>
          </a:prstGeom>
          <a:solidFill>
            <a:srgbClr val="2563EB">
              <a:alpha val="42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8193024" y="3396996"/>
            <a:ext cx="100584" cy="100584"/>
          </a:xfrm>
          <a:prstGeom prst="rect">
            <a:avLst/>
          </a:prstGeom>
          <a:solidFill>
            <a:srgbClr val="2563EB">
              <a:alpha val="81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8316468" y="3396996"/>
            <a:ext cx="100584" cy="100584"/>
          </a:xfrm>
          <a:prstGeom prst="rect">
            <a:avLst/>
          </a:prstGeom>
          <a:solidFill>
            <a:srgbClr val="2563EB">
              <a:alpha val="59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8439912" y="3396996"/>
            <a:ext cx="100584" cy="100584"/>
          </a:xfrm>
          <a:prstGeom prst="rect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8563356" y="3396996"/>
            <a:ext cx="100584" cy="100584"/>
          </a:xfrm>
          <a:prstGeom prst="rect">
            <a:avLst/>
          </a:prstGeom>
          <a:solidFill>
            <a:srgbClr val="2563EB">
              <a:alpha val="73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8069580" y="3520440"/>
            <a:ext cx="100584" cy="100584"/>
          </a:xfrm>
          <a:prstGeom prst="rect">
            <a:avLst/>
          </a:prstGeom>
          <a:solidFill>
            <a:srgbClr val="2563EB">
              <a:alpha val="55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8193024" y="3520440"/>
            <a:ext cx="100584" cy="100584"/>
          </a:xfrm>
          <a:prstGeom prst="rect">
            <a:avLst/>
          </a:prstGeom>
          <a:solidFill>
            <a:srgbClr val="2563EB">
              <a:alpha val="83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8316468" y="3520440"/>
            <a:ext cx="100584" cy="100584"/>
          </a:xfrm>
          <a:prstGeom prst="rect">
            <a:avLst/>
          </a:prstGeom>
          <a:solidFill>
            <a:srgbClr val="2563EB">
              <a:alpha val="37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8439912" y="3520440"/>
            <a:ext cx="100584" cy="100584"/>
          </a:xfrm>
          <a:prstGeom prst="rect">
            <a:avLst/>
          </a:prstGeom>
          <a:solidFill>
            <a:srgbClr val="2563EB">
              <a:alpha val="89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8563356" y="3520440"/>
            <a:ext cx="100584" cy="100584"/>
          </a:xfrm>
          <a:prstGeom prst="rect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138" name="Text 136"/>
          <p:cNvSpPr/>
          <p:nvPr/>
        </p:nvSpPr>
        <p:spPr>
          <a:xfrm>
            <a:off x="7461504" y="375818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4-head attention · residual + LayerNorm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9692640" y="1051560"/>
            <a:ext cx="2212848" cy="3310128"/>
          </a:xfrm>
          <a:prstGeom prst="roundRect">
            <a:avLst>
              <a:gd name="adj" fmla="val 28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40" name="Shape 138"/>
          <p:cNvSpPr/>
          <p:nvPr/>
        </p:nvSpPr>
        <p:spPr>
          <a:xfrm>
            <a:off x="9692640" y="1051560"/>
            <a:ext cx="2212848" cy="38404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692640" y="1307592"/>
            <a:ext cx="2212848" cy="146304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42" name="Text 140"/>
          <p:cNvSpPr/>
          <p:nvPr/>
        </p:nvSpPr>
        <p:spPr>
          <a:xfrm>
            <a:off x="9820656" y="1097280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Bond head → output</a:t>
            </a:r>
            <a:endParaRPr lang="en-US" sz="1250" dirty="0"/>
          </a:p>
        </p:txBody>
      </p:sp>
      <p:sp>
        <p:nvSpPr>
          <p:cNvPr id="143" name="Shape 141"/>
          <p:cNvSpPr/>
          <p:nvPr/>
        </p:nvSpPr>
        <p:spPr>
          <a:xfrm>
            <a:off x="9820656" y="1545336"/>
            <a:ext cx="1956816" cy="566928"/>
          </a:xfrm>
          <a:prstGeom prst="roundRect">
            <a:avLst>
              <a:gd name="adj" fmla="val 8065"/>
            </a:avLst>
          </a:prstGeom>
          <a:solidFill>
            <a:srgbClr val="F5F3FF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144" name="Text 142"/>
          <p:cNvSpPr/>
          <p:nvPr/>
        </p:nvSpPr>
        <p:spPr>
          <a:xfrm>
            <a:off x="9875520" y="1563624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hᵢ ‖ hᵢ₊₁ ‖ eᵢⱼ ‖ hᵢ−hᵢ₊₁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4C1D9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‖ hᵢ⊙hᵢ₊₁ ‖ theory ]  (6×256)</a:t>
            </a:r>
            <a:endParaRPr lang="en-US" sz="820" dirty="0"/>
          </a:p>
        </p:txBody>
      </p:sp>
      <p:sp>
        <p:nvSpPr>
          <p:cNvPr id="145" name="Shape 143"/>
          <p:cNvSpPr/>
          <p:nvPr/>
        </p:nvSpPr>
        <p:spPr>
          <a:xfrm>
            <a:off x="10799064" y="2112264"/>
            <a:ext cx="4572" cy="18288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6" name="Shape 144"/>
          <p:cNvSpPr/>
          <p:nvPr/>
        </p:nvSpPr>
        <p:spPr>
          <a:xfrm>
            <a:off x="10003536" y="2313432"/>
            <a:ext cx="159105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10003536" y="231343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MLP 1536 → 256 → 1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10799064" y="2697480"/>
            <a:ext cx="4572" cy="18288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9" name="Shape 147"/>
          <p:cNvSpPr/>
          <p:nvPr/>
        </p:nvSpPr>
        <p:spPr>
          <a:xfrm>
            <a:off x="10003536" y="3520440"/>
            <a:ext cx="1591056" cy="45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ysDash"/>
          </a:ln>
        </p:spPr>
      </p:sp>
      <p:sp>
        <p:nvSpPr>
          <p:cNvPr id="150" name="Text 148"/>
          <p:cNvSpPr/>
          <p:nvPr/>
        </p:nvSpPr>
        <p:spPr>
          <a:xfrm>
            <a:off x="9985248" y="32826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τ = 0.5</a:t>
            </a:r>
            <a:endParaRPr lang="en-US" sz="750" dirty="0"/>
          </a:p>
        </p:txBody>
      </p:sp>
      <p:sp>
        <p:nvSpPr>
          <p:cNvPr id="151" name="Shape 149"/>
          <p:cNvSpPr/>
          <p:nvPr/>
        </p:nvSpPr>
        <p:spPr>
          <a:xfrm>
            <a:off x="10076688" y="3691616"/>
            <a:ext cx="155448" cy="158008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152" name="Shape 150"/>
          <p:cNvSpPr/>
          <p:nvPr/>
        </p:nvSpPr>
        <p:spPr>
          <a:xfrm>
            <a:off x="10341864" y="3467771"/>
            <a:ext cx="155448" cy="381853"/>
          </a:xfrm>
          <a:prstGeom prst="roundRect">
            <a:avLst>
              <a:gd name="adj" fmla="val 11765"/>
            </a:avLst>
          </a:prstGeom>
          <a:solidFill>
            <a:srgbClr val="D97706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153" name="Shape 151"/>
          <p:cNvSpPr/>
          <p:nvPr/>
        </p:nvSpPr>
        <p:spPr>
          <a:xfrm>
            <a:off x="10607040" y="3619195"/>
            <a:ext cx="155448" cy="230429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154" name="Shape 152"/>
          <p:cNvSpPr/>
          <p:nvPr/>
        </p:nvSpPr>
        <p:spPr>
          <a:xfrm>
            <a:off x="10872216" y="3336097"/>
            <a:ext cx="155448" cy="513527"/>
          </a:xfrm>
          <a:prstGeom prst="roundRect">
            <a:avLst>
              <a:gd name="adj" fmla="val 11765"/>
            </a:avLst>
          </a:prstGeom>
          <a:solidFill>
            <a:srgbClr val="D97706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155" name="Shape 153"/>
          <p:cNvSpPr/>
          <p:nvPr/>
        </p:nvSpPr>
        <p:spPr>
          <a:xfrm>
            <a:off x="11137392" y="3573109"/>
            <a:ext cx="155448" cy="276515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156" name="Shape 154"/>
          <p:cNvSpPr/>
          <p:nvPr/>
        </p:nvSpPr>
        <p:spPr>
          <a:xfrm>
            <a:off x="11402568" y="3415101"/>
            <a:ext cx="155448" cy="434523"/>
          </a:xfrm>
          <a:prstGeom prst="roundRect">
            <a:avLst>
              <a:gd name="adj" fmla="val 11765"/>
            </a:avLst>
          </a:prstGeom>
          <a:solidFill>
            <a:srgbClr val="D97706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157" name="Shape 155"/>
          <p:cNvSpPr/>
          <p:nvPr/>
        </p:nvSpPr>
        <p:spPr>
          <a:xfrm>
            <a:off x="11667744" y="3652114"/>
            <a:ext cx="155448" cy="19751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12700" dir="5400000">
              <a:srgbClr val="94A3B8">
                <a:alpha val="20000"/>
              </a:srgbClr>
            </a:outerShdw>
          </a:effectLst>
        </p:spPr>
      </p:sp>
      <p:sp>
        <p:nvSpPr>
          <p:cNvPr id="158" name="Text 156"/>
          <p:cNvSpPr/>
          <p:nvPr/>
        </p:nvSpPr>
        <p:spPr>
          <a:xfrm>
            <a:off x="9820656" y="390448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pᵢ per peptide bond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5010912" y="4818888"/>
            <a:ext cx="4517136" cy="896112"/>
          </a:xfrm>
          <a:prstGeom prst="roundRect">
            <a:avLst>
              <a:gd name="adj" fmla="val 714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5400000">
              <a:srgbClr val="94A3B8">
                <a:alpha val="28000"/>
              </a:srgbClr>
            </a:outerShdw>
          </a:effectLst>
        </p:spPr>
      </p:sp>
      <p:sp>
        <p:nvSpPr>
          <p:cNvPr id="160" name="Text 158"/>
          <p:cNvSpPr/>
          <p:nvPr/>
        </p:nvSpPr>
        <p:spPr>
          <a:xfrm>
            <a:off x="5157216" y="4892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FiLM</a:t>
            </a:r>
            <a:endParaRPr lang="en-US" sz="1200" dirty="0"/>
          </a:p>
        </p:txBody>
      </p:sp>
      <p:sp>
        <p:nvSpPr>
          <p:cNvPr id="161" name="Text 159"/>
          <p:cNvSpPr/>
          <p:nvPr/>
        </p:nvSpPr>
        <p:spPr>
          <a:xfrm>
            <a:off x="5157216" y="518464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[charge, NCE] → MLP → (γ, β):   h ← (1+γ)⊙h + β   (zero-init)</a:t>
            </a:r>
            <a:endParaRPr lang="en-US" sz="1000" dirty="0"/>
          </a:p>
        </p:txBody>
      </p:sp>
      <p:sp>
        <p:nvSpPr>
          <p:cNvPr id="162" name="Shape 160"/>
          <p:cNvSpPr/>
          <p:nvPr/>
        </p:nvSpPr>
        <p:spPr>
          <a:xfrm>
            <a:off x="1307592" y="4361688"/>
            <a:ext cx="4023360" cy="548640"/>
          </a:xfrm>
          <a:prstGeom prst="line">
            <a:avLst/>
          </a:prstGeom>
          <a:noFill/>
          <a:ln w="20320">
            <a:solidFill>
              <a:srgbClr val="D97706"/>
            </a:solidFill>
            <a:prstDash val="sysDash"/>
            <a:tailEnd type="triangle"/>
          </a:ln>
        </p:spPr>
      </p:sp>
      <p:sp>
        <p:nvSpPr>
          <p:cNvPr id="163" name="Shape 161"/>
          <p:cNvSpPr/>
          <p:nvPr/>
        </p:nvSpPr>
        <p:spPr>
          <a:xfrm flipV="1">
            <a:off x="8366760" y="4379976"/>
            <a:ext cx="4572" cy="438912"/>
          </a:xfrm>
          <a:prstGeom prst="line">
            <a:avLst/>
          </a:prstGeom>
          <a:noFill/>
          <a:ln w="20320">
            <a:solidFill>
              <a:srgbClr val="D97706"/>
            </a:solidFill>
            <a:prstDash val="sysDash"/>
            <a:tailEnd type="triangle"/>
          </a:ln>
        </p:spPr>
      </p:sp>
      <p:sp>
        <p:nvSpPr>
          <p:cNvPr id="164" name="Text 162"/>
          <p:cNvSpPr/>
          <p:nvPr/>
        </p:nvSpPr>
        <p:spPr>
          <a:xfrm>
            <a:off x="8458200" y="450799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835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modulates all nodes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2267712" y="3209544"/>
            <a:ext cx="237744" cy="4572"/>
          </a:xfrm>
          <a:prstGeom prst="line">
            <a:avLst/>
          </a:prstGeom>
          <a:noFill/>
          <a:ln w="3048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6" name="Shape 164"/>
          <p:cNvSpPr/>
          <p:nvPr/>
        </p:nvSpPr>
        <p:spPr>
          <a:xfrm>
            <a:off x="4828032" y="3209544"/>
            <a:ext cx="237744" cy="4572"/>
          </a:xfrm>
          <a:prstGeom prst="line">
            <a:avLst/>
          </a:prstGeom>
          <a:noFill/>
          <a:ln w="3048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7" name="Shape 165"/>
          <p:cNvSpPr/>
          <p:nvPr/>
        </p:nvSpPr>
        <p:spPr>
          <a:xfrm>
            <a:off x="7077456" y="3209544"/>
            <a:ext cx="182880" cy="4572"/>
          </a:xfrm>
          <a:prstGeom prst="line">
            <a:avLst/>
          </a:prstGeom>
          <a:noFill/>
          <a:ln w="3048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68" name="Shape 166"/>
          <p:cNvSpPr/>
          <p:nvPr/>
        </p:nvSpPr>
        <p:spPr>
          <a:xfrm>
            <a:off x="9473184" y="3209544"/>
            <a:ext cx="182880" cy="4572"/>
          </a:xfrm>
          <a:prstGeom prst="line">
            <a:avLst/>
          </a:prstGeom>
          <a:noFill/>
          <a:ln w="30480">
            <a:solidFill>
              <a:srgbClr val="47556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2026-10-06T14:45:54Z</dcterms:created>
  <dcterms:modified xsi:type="dcterms:W3CDTF">2026-10-06T14:45:54Z</dcterms:modified>
</cp:coreProperties>
</file>