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71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9667" y="1595264"/>
            <a:ext cx="1671936" cy="2750604"/>
          </a:xfrm>
          <a:prstGeom prst="roundRect">
            <a:avLst>
              <a:gd name="adj" fmla="val 109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4051" y="1608747"/>
            <a:ext cx="1537102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Input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1467" y="2026731"/>
            <a:ext cx="1348335" cy="188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1467" y="2242465"/>
            <a:ext cx="1348335" cy="269667"/>
          </a:xfrm>
          <a:prstGeom prst="roundRect">
            <a:avLst>
              <a:gd name="adj" fmla="val 678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31467" y="2242465"/>
            <a:ext cx="1348335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 A   K   B   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1467" y="2727866"/>
            <a:ext cx="1348335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synthesis conditions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467" y="2970566"/>
            <a:ext cx="1348335" cy="296634"/>
          </a:xfrm>
          <a:prstGeom prst="roundRect">
            <a:avLst>
              <a:gd name="adj" fmla="val 616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1467" y="2970566"/>
            <a:ext cx="1348335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467" y="3348100"/>
            <a:ext cx="1348335" cy="296634"/>
          </a:xfrm>
          <a:prstGeom prst="roundRect">
            <a:avLst>
              <a:gd name="adj" fmla="val 616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1467" y="3348100"/>
            <a:ext cx="1348335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pep_mass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467" y="3725634"/>
            <a:ext cx="1348335" cy="296634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31467" y="3725634"/>
            <a:ext cx="1348335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79114" y="1574618"/>
            <a:ext cx="1916023" cy="2750604"/>
          </a:xfrm>
          <a:prstGeom prst="roundRect">
            <a:avLst>
              <a:gd name="adj" fmla="val 771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215694" y="1622811"/>
            <a:ext cx="2238237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Graph construction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01172" y="1995129"/>
            <a:ext cx="296634" cy="296634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101172" y="1995129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74189" y="2742139"/>
            <a:ext cx="296634" cy="296634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157337" y="2781799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69704" y="2750197"/>
            <a:ext cx="296634" cy="296634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669704" y="2750197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5105" y="2750197"/>
            <a:ext cx="296634" cy="296634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155105" y="2750197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40506" y="2750197"/>
            <a:ext cx="296634" cy="296634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640506" y="2750197"/>
            <a:ext cx="296634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65203" y="3348100"/>
            <a:ext cx="1941603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5 → |i − j| ≤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80937" y="2898514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966338" y="2898514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451739" y="2898514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 flipV="1">
            <a:off x="2332621" y="2726496"/>
            <a:ext cx="60675" cy="2370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 flipV="1">
            <a:off x="2393296" y="2705955"/>
            <a:ext cx="60675" cy="2054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 flipV="1">
            <a:off x="2453971" y="2688574"/>
            <a:ext cx="60675" cy="1738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 flipV="1">
            <a:off x="2514646" y="2674353"/>
            <a:ext cx="60675" cy="1422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 flipV="1">
            <a:off x="2575321" y="2663293"/>
            <a:ext cx="60675" cy="110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 flipV="1">
            <a:off x="2635996" y="2655392"/>
            <a:ext cx="60675" cy="790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 flipV="1">
            <a:off x="2696671" y="2650652"/>
            <a:ext cx="60675" cy="474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 flipV="1">
            <a:off x="2757346" y="2649072"/>
            <a:ext cx="60675" cy="158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2818021" y="2649072"/>
            <a:ext cx="60675" cy="158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2878696" y="2650652"/>
            <a:ext cx="60675" cy="474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2939371" y="2655392"/>
            <a:ext cx="60675" cy="790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3000047" y="2663293"/>
            <a:ext cx="60675" cy="110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060722" y="2674353"/>
            <a:ext cx="60675" cy="1422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3121397" y="2688574"/>
            <a:ext cx="60675" cy="1738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3182072" y="2705955"/>
            <a:ext cx="60675" cy="2054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3242747" y="2726496"/>
            <a:ext cx="60675" cy="2370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 flipV="1">
            <a:off x="2818021" y="2718595"/>
            <a:ext cx="60675" cy="3160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 flipV="1">
            <a:off x="2878696" y="2691207"/>
            <a:ext cx="60675" cy="2738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 flipV="1">
            <a:off x="2939371" y="2668033"/>
            <a:ext cx="60675" cy="2317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 flipV="1">
            <a:off x="3000047" y="2649072"/>
            <a:ext cx="60675" cy="189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 flipV="1">
            <a:off x="3060722" y="2634324"/>
            <a:ext cx="60675" cy="1474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 flipV="1">
            <a:off x="3121397" y="2623791"/>
            <a:ext cx="60675" cy="1053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 flipV="1">
            <a:off x="3182072" y="2617470"/>
            <a:ext cx="60675" cy="632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 flipV="1">
            <a:off x="3242747" y="2615363"/>
            <a:ext cx="60675" cy="210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3303422" y="2615363"/>
            <a:ext cx="60675" cy="210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3364097" y="2617470"/>
            <a:ext cx="60675" cy="632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3424772" y="2623791"/>
            <a:ext cx="60675" cy="10534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3485447" y="2634324"/>
            <a:ext cx="60675" cy="1474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3546122" y="2649072"/>
            <a:ext cx="60675" cy="189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3606797" y="2668033"/>
            <a:ext cx="60675" cy="2317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3667473" y="2691207"/>
            <a:ext cx="60675" cy="2738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3728148" y="2718595"/>
            <a:ext cx="60675" cy="3160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 flipV="1">
            <a:off x="2332621" y="2698054"/>
            <a:ext cx="91013" cy="5214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 flipV="1">
            <a:off x="2423633" y="2652864"/>
            <a:ext cx="91013" cy="4519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 flipV="1">
            <a:off x="2514646" y="2614626"/>
            <a:ext cx="91013" cy="3823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 flipV="1">
            <a:off x="2605658" y="2583341"/>
            <a:ext cx="91013" cy="3128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 flipV="1">
            <a:off x="2696671" y="2559007"/>
            <a:ext cx="91013" cy="2433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 flipV="1">
            <a:off x="2787684" y="2541626"/>
            <a:ext cx="91013" cy="1738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 flipV="1">
            <a:off x="2878696" y="2531198"/>
            <a:ext cx="91013" cy="1042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 flipV="1">
            <a:off x="2969709" y="2527722"/>
            <a:ext cx="91013" cy="347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3060722" y="2527722"/>
            <a:ext cx="91013" cy="347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3151734" y="2531198"/>
            <a:ext cx="91013" cy="1042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3242747" y="2541626"/>
            <a:ext cx="91013" cy="1738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3333760" y="2559007"/>
            <a:ext cx="91013" cy="2433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3424772" y="2583341"/>
            <a:ext cx="91013" cy="3128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3515785" y="2614626"/>
            <a:ext cx="91013" cy="3823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3606797" y="2652864"/>
            <a:ext cx="91013" cy="4519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3697810" y="2698054"/>
            <a:ext cx="91013" cy="5214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 flipH="1">
            <a:off x="3173223" y="2291763"/>
            <a:ext cx="76265" cy="2549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 flipH="1">
            <a:off x="3099486" y="2317255"/>
            <a:ext cx="73737" cy="2591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 flipH="1">
            <a:off x="3028277" y="2343168"/>
            <a:ext cx="71209" cy="26335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 flipH="1">
            <a:off x="2959596" y="2369503"/>
            <a:ext cx="68681" cy="2675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 flipH="1">
            <a:off x="2893444" y="2396259"/>
            <a:ext cx="66153" cy="2717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 flipH="1">
            <a:off x="2829819" y="2423436"/>
            <a:ext cx="63625" cy="27599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 flipH="1">
            <a:off x="2768723" y="2451035"/>
            <a:ext cx="61096" cy="2802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 flipH="1">
            <a:off x="2710154" y="2479055"/>
            <a:ext cx="58568" cy="2844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 flipH="1">
            <a:off x="2654114" y="2507497"/>
            <a:ext cx="56040" cy="2886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 flipH="1">
            <a:off x="2600602" y="2536359"/>
            <a:ext cx="53512" cy="2928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 flipH="1">
            <a:off x="2549618" y="2565644"/>
            <a:ext cx="50984" cy="2970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 flipH="1">
            <a:off x="2501162" y="2595349"/>
            <a:ext cx="48456" cy="3012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 flipH="1">
            <a:off x="2455235" y="2625476"/>
            <a:ext cx="45928" cy="305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 flipH="1">
            <a:off x="2411835" y="2656024"/>
            <a:ext cx="43400" cy="3097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 flipH="1">
            <a:off x="2370964" y="2686994"/>
            <a:ext cx="40871" cy="3139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91"/>
          <p:cNvSpPr/>
          <p:nvPr/>
        </p:nvSpPr>
        <p:spPr>
          <a:xfrm flipH="1">
            <a:off x="2332621" y="2718385"/>
            <a:ext cx="38343" cy="3181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2"/>
          <p:cNvSpPr/>
          <p:nvPr/>
        </p:nvSpPr>
        <p:spPr>
          <a:xfrm flipH="1">
            <a:off x="3209881" y="2291763"/>
            <a:ext cx="39607" cy="2549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hape 93"/>
          <p:cNvSpPr/>
          <p:nvPr/>
        </p:nvSpPr>
        <p:spPr>
          <a:xfrm flipH="1">
            <a:off x="3171959" y="2317255"/>
            <a:ext cx="37922" cy="2591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Shape 94"/>
          <p:cNvSpPr/>
          <p:nvPr/>
        </p:nvSpPr>
        <p:spPr>
          <a:xfrm flipH="1">
            <a:off x="3135723" y="2343168"/>
            <a:ext cx="36237" cy="26335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hape 95"/>
          <p:cNvSpPr/>
          <p:nvPr/>
        </p:nvSpPr>
        <p:spPr>
          <a:xfrm flipH="1">
            <a:off x="3101172" y="2369503"/>
            <a:ext cx="34551" cy="2675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Shape 96"/>
          <p:cNvSpPr/>
          <p:nvPr/>
        </p:nvSpPr>
        <p:spPr>
          <a:xfrm flipH="1">
            <a:off x="3068306" y="2396259"/>
            <a:ext cx="32866" cy="2717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hape 97"/>
          <p:cNvSpPr/>
          <p:nvPr/>
        </p:nvSpPr>
        <p:spPr>
          <a:xfrm flipH="1">
            <a:off x="3037126" y="2423436"/>
            <a:ext cx="31180" cy="27599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Shape 98"/>
          <p:cNvSpPr/>
          <p:nvPr/>
        </p:nvSpPr>
        <p:spPr>
          <a:xfrm flipH="1">
            <a:off x="3007631" y="2451035"/>
            <a:ext cx="29495" cy="2802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9"/>
          <p:cNvSpPr/>
          <p:nvPr/>
        </p:nvSpPr>
        <p:spPr>
          <a:xfrm flipH="1">
            <a:off x="2979822" y="2479055"/>
            <a:ext cx="27809" cy="2844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100"/>
          <p:cNvSpPr/>
          <p:nvPr/>
        </p:nvSpPr>
        <p:spPr>
          <a:xfrm flipH="1">
            <a:off x="2953698" y="2507497"/>
            <a:ext cx="26124" cy="2886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101"/>
          <p:cNvSpPr/>
          <p:nvPr/>
        </p:nvSpPr>
        <p:spPr>
          <a:xfrm flipH="1">
            <a:off x="2929259" y="2536359"/>
            <a:ext cx="24439" cy="2928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Shape 102"/>
          <p:cNvSpPr/>
          <p:nvPr/>
        </p:nvSpPr>
        <p:spPr>
          <a:xfrm flipH="1">
            <a:off x="2906506" y="2565644"/>
            <a:ext cx="22753" cy="2970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hape 103"/>
          <p:cNvSpPr/>
          <p:nvPr/>
        </p:nvSpPr>
        <p:spPr>
          <a:xfrm flipH="1">
            <a:off x="2885438" y="2595349"/>
            <a:ext cx="21068" cy="3012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Shape 104"/>
          <p:cNvSpPr/>
          <p:nvPr/>
        </p:nvSpPr>
        <p:spPr>
          <a:xfrm flipH="1">
            <a:off x="2866056" y="2625476"/>
            <a:ext cx="19382" cy="305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hape 105"/>
          <p:cNvSpPr/>
          <p:nvPr/>
        </p:nvSpPr>
        <p:spPr>
          <a:xfrm flipH="1">
            <a:off x="2848359" y="2656024"/>
            <a:ext cx="17697" cy="3097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Shape 106"/>
          <p:cNvSpPr/>
          <p:nvPr/>
        </p:nvSpPr>
        <p:spPr>
          <a:xfrm flipH="1">
            <a:off x="2832347" y="2686994"/>
            <a:ext cx="16011" cy="3139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hape 107"/>
          <p:cNvSpPr/>
          <p:nvPr/>
        </p:nvSpPr>
        <p:spPr>
          <a:xfrm flipH="1">
            <a:off x="2818021" y="2718385"/>
            <a:ext cx="14326" cy="3181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Shape 108"/>
          <p:cNvSpPr/>
          <p:nvPr/>
        </p:nvSpPr>
        <p:spPr>
          <a:xfrm>
            <a:off x="3249489" y="2291763"/>
            <a:ext cx="38133" cy="2549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hape 109"/>
          <p:cNvSpPr/>
          <p:nvPr/>
        </p:nvSpPr>
        <p:spPr>
          <a:xfrm>
            <a:off x="3287621" y="2317255"/>
            <a:ext cx="33498" cy="2591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Shape 110"/>
          <p:cNvSpPr/>
          <p:nvPr/>
        </p:nvSpPr>
        <p:spPr>
          <a:xfrm>
            <a:off x="3321119" y="2343168"/>
            <a:ext cx="28863" cy="26335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hape 111"/>
          <p:cNvSpPr/>
          <p:nvPr/>
        </p:nvSpPr>
        <p:spPr>
          <a:xfrm>
            <a:off x="3349982" y="2369503"/>
            <a:ext cx="24228" cy="2675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Shape 112"/>
          <p:cNvSpPr/>
          <p:nvPr/>
        </p:nvSpPr>
        <p:spPr>
          <a:xfrm>
            <a:off x="3374210" y="2396259"/>
            <a:ext cx="19593" cy="2717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hape 113"/>
          <p:cNvSpPr/>
          <p:nvPr/>
        </p:nvSpPr>
        <p:spPr>
          <a:xfrm>
            <a:off x="3393803" y="2423436"/>
            <a:ext cx="14958" cy="27599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Shape 114"/>
          <p:cNvSpPr/>
          <p:nvPr/>
        </p:nvSpPr>
        <p:spPr>
          <a:xfrm>
            <a:off x="3408761" y="2451035"/>
            <a:ext cx="10323" cy="2802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hape 115"/>
          <p:cNvSpPr/>
          <p:nvPr/>
        </p:nvSpPr>
        <p:spPr>
          <a:xfrm>
            <a:off x="3419084" y="2479055"/>
            <a:ext cx="5688" cy="2844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Shape 116"/>
          <p:cNvSpPr/>
          <p:nvPr/>
        </p:nvSpPr>
        <p:spPr>
          <a:xfrm>
            <a:off x="3424772" y="2507497"/>
            <a:ext cx="1053" cy="2886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hape 117"/>
          <p:cNvSpPr/>
          <p:nvPr/>
        </p:nvSpPr>
        <p:spPr>
          <a:xfrm flipH="1">
            <a:off x="3422244" y="2536359"/>
            <a:ext cx="3582" cy="2928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Shape 118"/>
          <p:cNvSpPr/>
          <p:nvPr/>
        </p:nvSpPr>
        <p:spPr>
          <a:xfrm flipH="1">
            <a:off x="3414028" y="2565644"/>
            <a:ext cx="8216" cy="2970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hape 119"/>
          <p:cNvSpPr/>
          <p:nvPr/>
        </p:nvSpPr>
        <p:spPr>
          <a:xfrm flipH="1">
            <a:off x="3401176" y="2595349"/>
            <a:ext cx="12851" cy="3012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Shape 120"/>
          <p:cNvSpPr/>
          <p:nvPr/>
        </p:nvSpPr>
        <p:spPr>
          <a:xfrm flipH="1">
            <a:off x="3383690" y="2625476"/>
            <a:ext cx="17486" cy="305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hape 121"/>
          <p:cNvSpPr/>
          <p:nvPr/>
        </p:nvSpPr>
        <p:spPr>
          <a:xfrm flipH="1">
            <a:off x="3361569" y="2656024"/>
            <a:ext cx="22121" cy="3097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Shape 122"/>
          <p:cNvSpPr/>
          <p:nvPr/>
        </p:nvSpPr>
        <p:spPr>
          <a:xfrm flipH="1">
            <a:off x="3334813" y="2686994"/>
            <a:ext cx="26756" cy="3139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hape 123"/>
          <p:cNvSpPr/>
          <p:nvPr/>
        </p:nvSpPr>
        <p:spPr>
          <a:xfrm flipH="1">
            <a:off x="3303422" y="2718385"/>
            <a:ext cx="31391" cy="3181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Shape 124"/>
          <p:cNvSpPr/>
          <p:nvPr/>
        </p:nvSpPr>
        <p:spPr>
          <a:xfrm>
            <a:off x="3249489" y="2291763"/>
            <a:ext cx="74790" cy="2549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hape 125"/>
          <p:cNvSpPr/>
          <p:nvPr/>
        </p:nvSpPr>
        <p:spPr>
          <a:xfrm>
            <a:off x="3324279" y="2317255"/>
            <a:ext cx="69313" cy="2591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Shape 126"/>
          <p:cNvSpPr/>
          <p:nvPr/>
        </p:nvSpPr>
        <p:spPr>
          <a:xfrm>
            <a:off x="3393592" y="2343168"/>
            <a:ext cx="63835" cy="26335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hape 127"/>
          <p:cNvSpPr/>
          <p:nvPr/>
        </p:nvSpPr>
        <p:spPr>
          <a:xfrm>
            <a:off x="3457427" y="2369503"/>
            <a:ext cx="58358" cy="2675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Shape 128"/>
          <p:cNvSpPr/>
          <p:nvPr/>
        </p:nvSpPr>
        <p:spPr>
          <a:xfrm>
            <a:off x="3515785" y="2396259"/>
            <a:ext cx="52880" cy="2717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Shape 129"/>
          <p:cNvSpPr/>
          <p:nvPr/>
        </p:nvSpPr>
        <p:spPr>
          <a:xfrm>
            <a:off x="3568665" y="2423436"/>
            <a:ext cx="47402" cy="27599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Shape 130"/>
          <p:cNvSpPr/>
          <p:nvPr/>
        </p:nvSpPr>
        <p:spPr>
          <a:xfrm>
            <a:off x="3616067" y="2451035"/>
            <a:ext cx="41925" cy="2802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Shape 131"/>
          <p:cNvSpPr/>
          <p:nvPr/>
        </p:nvSpPr>
        <p:spPr>
          <a:xfrm>
            <a:off x="3657992" y="2479055"/>
            <a:ext cx="36447" cy="2844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Shape 132"/>
          <p:cNvSpPr/>
          <p:nvPr/>
        </p:nvSpPr>
        <p:spPr>
          <a:xfrm>
            <a:off x="3694439" y="2507497"/>
            <a:ext cx="30970" cy="2886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Shape 133"/>
          <p:cNvSpPr/>
          <p:nvPr/>
        </p:nvSpPr>
        <p:spPr>
          <a:xfrm>
            <a:off x="3725409" y="2536359"/>
            <a:ext cx="25492" cy="2928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Shape 134"/>
          <p:cNvSpPr/>
          <p:nvPr/>
        </p:nvSpPr>
        <p:spPr>
          <a:xfrm>
            <a:off x="3750901" y="2565644"/>
            <a:ext cx="20014" cy="2970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Shape 135"/>
          <p:cNvSpPr/>
          <p:nvPr/>
        </p:nvSpPr>
        <p:spPr>
          <a:xfrm>
            <a:off x="3770915" y="2595349"/>
            <a:ext cx="14537" cy="3012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Shape 136"/>
          <p:cNvSpPr/>
          <p:nvPr/>
        </p:nvSpPr>
        <p:spPr>
          <a:xfrm>
            <a:off x="3785452" y="2625476"/>
            <a:ext cx="9059" cy="305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Shape 137"/>
          <p:cNvSpPr/>
          <p:nvPr/>
        </p:nvSpPr>
        <p:spPr>
          <a:xfrm>
            <a:off x="3794511" y="2656024"/>
            <a:ext cx="3582" cy="3097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Shape 138"/>
          <p:cNvSpPr/>
          <p:nvPr/>
        </p:nvSpPr>
        <p:spPr>
          <a:xfrm flipH="1">
            <a:off x="3796196" y="2686994"/>
            <a:ext cx="1896" cy="3139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Shape 139"/>
          <p:cNvSpPr/>
          <p:nvPr/>
        </p:nvSpPr>
        <p:spPr>
          <a:xfrm flipH="1">
            <a:off x="3788823" y="2718385"/>
            <a:ext cx="7374" cy="3181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Shape 140"/>
          <p:cNvSpPr/>
          <p:nvPr/>
        </p:nvSpPr>
        <p:spPr>
          <a:xfrm>
            <a:off x="4098940" y="1595263"/>
            <a:ext cx="2103403" cy="2750603"/>
          </a:xfrm>
          <a:prstGeom prst="roundRect">
            <a:avLst>
              <a:gd name="adj" fmla="val 84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Text 141"/>
          <p:cNvSpPr/>
          <p:nvPr/>
        </p:nvSpPr>
        <p:spPr>
          <a:xfrm>
            <a:off x="4193323" y="1608747"/>
            <a:ext cx="2022503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Encoding</a:t>
            </a:r>
            <a:endParaRPr lang="en-US" sz="1150" dirty="0"/>
          </a:p>
        </p:txBody>
      </p:sp>
      <p:sp>
        <p:nvSpPr>
          <p:cNvPr id="144" name="Shape 142"/>
          <p:cNvSpPr/>
          <p:nvPr/>
        </p:nvSpPr>
        <p:spPr>
          <a:xfrm>
            <a:off x="4260740" y="2026731"/>
            <a:ext cx="1833736" cy="59326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Text 143"/>
          <p:cNvSpPr/>
          <p:nvPr/>
        </p:nvSpPr>
        <p:spPr>
          <a:xfrm>
            <a:off x="4260740" y="2026731"/>
            <a:ext cx="1833736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encoding: AA ⊕ pos ⊕ physchem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4260740" y="2727866"/>
            <a:ext cx="1833736" cy="59326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Text 145"/>
          <p:cNvSpPr/>
          <p:nvPr/>
        </p:nvSpPr>
        <p:spPr>
          <a:xfrm>
            <a:off x="4260740" y="2727866"/>
            <a:ext cx="1833736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encoding: type ⊕ dist ⊕ attrs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4260740" y="3429000"/>
            <a:ext cx="1833736" cy="485401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Text 147"/>
          <p:cNvSpPr/>
          <p:nvPr/>
        </p:nvSpPr>
        <p:spPr>
          <a:xfrm>
            <a:off x="4260740" y="3429000"/>
            <a:ext cx="1833736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node emb. + condition vector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6350660" y="1595263"/>
            <a:ext cx="1688471" cy="2750602"/>
          </a:xfrm>
          <a:prstGeom prst="roundRect">
            <a:avLst>
              <a:gd name="adj" fmla="val 109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Text 149"/>
          <p:cNvSpPr/>
          <p:nvPr/>
        </p:nvSpPr>
        <p:spPr>
          <a:xfrm>
            <a:off x="6350660" y="1608747"/>
            <a:ext cx="1537102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FiLM conditioning</a:t>
            </a:r>
            <a:endParaRPr lang="en-US" sz="1150" dirty="0"/>
          </a:p>
        </p:txBody>
      </p:sp>
      <p:sp>
        <p:nvSpPr>
          <p:cNvPr id="152" name="Shape 150"/>
          <p:cNvSpPr/>
          <p:nvPr/>
        </p:nvSpPr>
        <p:spPr>
          <a:xfrm>
            <a:off x="6445043" y="1999764"/>
            <a:ext cx="1348335" cy="296634"/>
          </a:xfrm>
          <a:prstGeom prst="roundRect">
            <a:avLst>
              <a:gd name="adj" fmla="val 616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Text 151"/>
          <p:cNvSpPr/>
          <p:nvPr/>
        </p:nvSpPr>
        <p:spPr>
          <a:xfrm>
            <a:off x="6445043" y="1999764"/>
            <a:ext cx="1348335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charge, NCE ]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6714710" y="2485165"/>
            <a:ext cx="809001" cy="323600"/>
          </a:xfrm>
          <a:prstGeom prst="roundRect">
            <a:avLst>
              <a:gd name="adj" fmla="val 5651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Text 153"/>
          <p:cNvSpPr/>
          <p:nvPr/>
        </p:nvSpPr>
        <p:spPr>
          <a:xfrm>
            <a:off x="6714710" y="2485165"/>
            <a:ext cx="809001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50" dirty="0"/>
          </a:p>
        </p:txBody>
      </p:sp>
      <p:sp>
        <p:nvSpPr>
          <p:cNvPr id="156" name="Shape 154"/>
          <p:cNvSpPr/>
          <p:nvPr/>
        </p:nvSpPr>
        <p:spPr>
          <a:xfrm>
            <a:off x="6445043" y="3051466"/>
            <a:ext cx="539334" cy="269667"/>
          </a:xfrm>
          <a:prstGeom prst="roundRect">
            <a:avLst>
              <a:gd name="adj" fmla="val 6782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Text 155"/>
          <p:cNvSpPr/>
          <p:nvPr/>
        </p:nvSpPr>
        <p:spPr>
          <a:xfrm>
            <a:off x="6445043" y="3051466"/>
            <a:ext cx="539334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7254044" y="3051466"/>
            <a:ext cx="539334" cy="269667"/>
          </a:xfrm>
          <a:prstGeom prst="roundRect">
            <a:avLst>
              <a:gd name="adj" fmla="val 6782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Text 157"/>
          <p:cNvSpPr/>
          <p:nvPr/>
        </p:nvSpPr>
        <p:spPr>
          <a:xfrm>
            <a:off x="7254044" y="3051466"/>
            <a:ext cx="539334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6445043" y="3536867"/>
            <a:ext cx="1348335" cy="593268"/>
          </a:xfrm>
          <a:prstGeom prst="roundRect">
            <a:avLst>
              <a:gd name="adj" fmla="val 308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Text 159"/>
          <p:cNvSpPr/>
          <p:nvPr/>
        </p:nvSpPr>
        <p:spPr>
          <a:xfrm>
            <a:off x="6445043" y="3536867"/>
            <a:ext cx="1348335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← (1 + γ) · h + β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7119211" y="2296398"/>
            <a:ext cx="9144" cy="1887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Shape 161"/>
          <p:cNvSpPr/>
          <p:nvPr/>
        </p:nvSpPr>
        <p:spPr>
          <a:xfrm flipH="1">
            <a:off x="6714710" y="2808765"/>
            <a:ext cx="404501" cy="2427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Shape 162"/>
          <p:cNvSpPr/>
          <p:nvPr/>
        </p:nvSpPr>
        <p:spPr>
          <a:xfrm>
            <a:off x="7119211" y="2808765"/>
            <a:ext cx="404501" cy="2427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Shape 163"/>
          <p:cNvSpPr/>
          <p:nvPr/>
        </p:nvSpPr>
        <p:spPr>
          <a:xfrm>
            <a:off x="6714710" y="3321133"/>
            <a:ext cx="9144" cy="21573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Shape 164"/>
          <p:cNvSpPr/>
          <p:nvPr/>
        </p:nvSpPr>
        <p:spPr>
          <a:xfrm>
            <a:off x="7523711" y="3321133"/>
            <a:ext cx="9144" cy="21573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Shape 165"/>
          <p:cNvSpPr/>
          <p:nvPr/>
        </p:nvSpPr>
        <p:spPr>
          <a:xfrm>
            <a:off x="8186058" y="1606429"/>
            <a:ext cx="1629823" cy="2739436"/>
          </a:xfrm>
          <a:prstGeom prst="roundRect">
            <a:avLst>
              <a:gd name="adj" fmla="val 109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Text 166"/>
          <p:cNvSpPr/>
          <p:nvPr/>
        </p:nvSpPr>
        <p:spPr>
          <a:xfrm>
            <a:off x="8238329" y="1608747"/>
            <a:ext cx="1537102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Message passing</a:t>
            </a:r>
            <a:endParaRPr lang="en-US" sz="1150" dirty="0"/>
          </a:p>
        </p:txBody>
      </p:sp>
      <p:sp>
        <p:nvSpPr>
          <p:cNvPr id="169" name="Shape 167"/>
          <p:cNvSpPr/>
          <p:nvPr/>
        </p:nvSpPr>
        <p:spPr>
          <a:xfrm>
            <a:off x="8305746" y="2026731"/>
            <a:ext cx="1348335" cy="701134"/>
          </a:xfrm>
          <a:prstGeom prst="roundRect">
            <a:avLst>
              <a:gd name="adj" fmla="val 260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Text 168"/>
          <p:cNvSpPr/>
          <p:nvPr/>
        </p:nvSpPr>
        <p:spPr>
          <a:xfrm>
            <a:off x="8305746" y="2026731"/>
            <a:ext cx="1348335" cy="701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GCN</a:t>
            </a:r>
            <a:endParaRPr lang="en-US" sz="1150" dirty="0"/>
          </a:p>
        </p:txBody>
      </p:sp>
      <p:sp>
        <p:nvSpPr>
          <p:cNvPr id="171" name="Shape 169"/>
          <p:cNvSpPr/>
          <p:nvPr/>
        </p:nvSpPr>
        <p:spPr>
          <a:xfrm>
            <a:off x="8305746" y="2835732"/>
            <a:ext cx="1348335" cy="701134"/>
          </a:xfrm>
          <a:prstGeom prst="roundRect">
            <a:avLst>
              <a:gd name="adj" fmla="val 260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Text 170"/>
          <p:cNvSpPr/>
          <p:nvPr/>
        </p:nvSpPr>
        <p:spPr>
          <a:xfrm>
            <a:off x="8305746" y="2835732"/>
            <a:ext cx="1348335" cy="701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GAT</a:t>
            </a:r>
            <a:endParaRPr lang="en-US" sz="1150" dirty="0"/>
          </a:p>
        </p:txBody>
      </p:sp>
      <p:sp>
        <p:nvSpPr>
          <p:cNvPr id="173" name="Text 171"/>
          <p:cNvSpPr/>
          <p:nvPr/>
        </p:nvSpPr>
        <p:spPr>
          <a:xfrm>
            <a:off x="8305746" y="3644734"/>
            <a:ext cx="1348335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(residual + LayerNorm)</a:t>
            </a:r>
            <a:endParaRPr lang="en-US" sz="950" dirty="0"/>
          </a:p>
        </p:txBody>
      </p:sp>
      <p:sp>
        <p:nvSpPr>
          <p:cNvPr id="174" name="Shape 172"/>
          <p:cNvSpPr/>
          <p:nvPr/>
        </p:nvSpPr>
        <p:spPr>
          <a:xfrm>
            <a:off x="8979914" y="2727866"/>
            <a:ext cx="9144" cy="1078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Shape 173"/>
          <p:cNvSpPr/>
          <p:nvPr/>
        </p:nvSpPr>
        <p:spPr>
          <a:xfrm>
            <a:off x="10032167" y="1595264"/>
            <a:ext cx="1725869" cy="2750601"/>
          </a:xfrm>
          <a:prstGeom prst="roundRect">
            <a:avLst>
              <a:gd name="adj" fmla="val 106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Text 174"/>
          <p:cNvSpPr/>
          <p:nvPr/>
        </p:nvSpPr>
        <p:spPr>
          <a:xfrm>
            <a:off x="10179932" y="1608747"/>
            <a:ext cx="1591036" cy="20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Prediction</a:t>
            </a:r>
            <a:endParaRPr lang="en-US" sz="1150" dirty="0"/>
          </a:p>
        </p:txBody>
      </p:sp>
      <p:sp>
        <p:nvSpPr>
          <p:cNvPr id="177" name="Shape 175"/>
          <p:cNvSpPr/>
          <p:nvPr/>
        </p:nvSpPr>
        <p:spPr>
          <a:xfrm>
            <a:off x="10247349" y="2026731"/>
            <a:ext cx="1402269" cy="539334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" name="Text 176"/>
          <p:cNvSpPr/>
          <p:nvPr/>
        </p:nvSpPr>
        <p:spPr>
          <a:xfrm>
            <a:off x="10247349" y="2026731"/>
            <a:ext cx="1402269" cy="539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10409149" y="2754832"/>
            <a:ext cx="1078668" cy="296634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" name="Text 178"/>
          <p:cNvSpPr/>
          <p:nvPr/>
        </p:nvSpPr>
        <p:spPr>
          <a:xfrm>
            <a:off x="10409149" y="2754832"/>
            <a:ext cx="1078668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10409149" y="3186300"/>
            <a:ext cx="1078668" cy="296634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Text 180"/>
          <p:cNvSpPr/>
          <p:nvPr/>
        </p:nvSpPr>
        <p:spPr>
          <a:xfrm>
            <a:off x="10409149" y="3186300"/>
            <a:ext cx="1078668" cy="29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endParaRPr lang="en-US" sz="1050" dirty="0"/>
          </a:p>
        </p:txBody>
      </p:sp>
      <p:sp>
        <p:nvSpPr>
          <p:cNvPr id="183" name="Shape 181"/>
          <p:cNvSpPr/>
          <p:nvPr/>
        </p:nvSpPr>
        <p:spPr>
          <a:xfrm>
            <a:off x="10247349" y="3644734"/>
            <a:ext cx="1402269" cy="593268"/>
          </a:xfrm>
          <a:prstGeom prst="roundRect">
            <a:avLst>
              <a:gd name="adj" fmla="val 308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Text 182"/>
          <p:cNvSpPr/>
          <p:nvPr/>
        </p:nvSpPr>
        <p:spPr>
          <a:xfrm>
            <a:off x="10247349" y="3644734"/>
            <a:ext cx="1402269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probability p_i</a:t>
            </a:r>
            <a:endParaRPr lang="en-US" sz="1000" dirty="0"/>
          </a:p>
        </p:txBody>
      </p:sp>
      <p:sp>
        <p:nvSpPr>
          <p:cNvPr id="185" name="Shape 183"/>
          <p:cNvSpPr/>
          <p:nvPr/>
        </p:nvSpPr>
        <p:spPr>
          <a:xfrm>
            <a:off x="10948483" y="2566065"/>
            <a:ext cx="9144" cy="1887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" name="Shape 184"/>
          <p:cNvSpPr/>
          <p:nvPr/>
        </p:nvSpPr>
        <p:spPr>
          <a:xfrm>
            <a:off x="10948483" y="3051466"/>
            <a:ext cx="9144" cy="134834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Shape 185"/>
          <p:cNvSpPr/>
          <p:nvPr/>
        </p:nvSpPr>
        <p:spPr>
          <a:xfrm>
            <a:off x="10948483" y="3482933"/>
            <a:ext cx="9144" cy="1618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Shape 186"/>
          <p:cNvSpPr/>
          <p:nvPr/>
        </p:nvSpPr>
        <p:spPr>
          <a:xfrm flipV="1">
            <a:off x="1618002" y="2147659"/>
            <a:ext cx="1051702" cy="229639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9" name="Shape 187"/>
          <p:cNvSpPr/>
          <p:nvPr/>
        </p:nvSpPr>
        <p:spPr>
          <a:xfrm flipV="1">
            <a:off x="3910173" y="2323365"/>
            <a:ext cx="350567" cy="606751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Shape 188"/>
          <p:cNvSpPr/>
          <p:nvPr/>
        </p:nvSpPr>
        <p:spPr>
          <a:xfrm flipV="1">
            <a:off x="6094476" y="2175048"/>
            <a:ext cx="269667" cy="155058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Shape 189"/>
          <p:cNvSpPr/>
          <p:nvPr/>
        </p:nvSpPr>
        <p:spPr>
          <a:xfrm flipV="1">
            <a:off x="7712478" y="2377298"/>
            <a:ext cx="593268" cy="1483169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2" name="Shape 190"/>
          <p:cNvSpPr/>
          <p:nvPr/>
        </p:nvSpPr>
        <p:spPr>
          <a:xfrm flipV="1">
            <a:off x="9654081" y="2296398"/>
            <a:ext cx="593268" cy="1240469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Shape 191"/>
          <p:cNvSpPr/>
          <p:nvPr/>
        </p:nvSpPr>
        <p:spPr>
          <a:xfrm>
            <a:off x="269667" y="4440252"/>
            <a:ext cx="11433884" cy="835968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" name="Text 192"/>
          <p:cNvSpPr/>
          <p:nvPr/>
        </p:nvSpPr>
        <p:spPr>
          <a:xfrm>
            <a:off x="377534" y="4480702"/>
            <a:ext cx="2022503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200" dirty="0"/>
          </a:p>
        </p:txBody>
      </p:sp>
      <p:sp>
        <p:nvSpPr>
          <p:cNvPr id="195" name="Text 193"/>
          <p:cNvSpPr/>
          <p:nvPr/>
        </p:nvSpPr>
        <p:spPr>
          <a:xfrm>
            <a:off x="431467" y="4709919"/>
            <a:ext cx="2022503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Residue node · Global node v_g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2561837" y="4797560"/>
            <a:ext cx="269667" cy="9144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Text 195"/>
          <p:cNvSpPr/>
          <p:nvPr/>
        </p:nvSpPr>
        <p:spPr>
          <a:xfrm>
            <a:off x="2871954" y="4709919"/>
            <a:ext cx="1752836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1 near (sequence backbone)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719174" y="4797560"/>
            <a:ext cx="269667" cy="9144"/>
          </a:xfrm>
          <a:prstGeom prst="line">
            <a:avLst/>
          </a:prstGeom>
          <a:noFill/>
          <a:ln w="22225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Text 197"/>
          <p:cNvSpPr/>
          <p:nvPr/>
        </p:nvSpPr>
        <p:spPr>
          <a:xfrm>
            <a:off x="5029291" y="4709919"/>
            <a:ext cx="1685419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 remote (distance window)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6809094" y="4797560"/>
            <a:ext cx="269667" cy="9144"/>
          </a:xfrm>
          <a:prstGeom prst="line">
            <a:avLst/>
          </a:prstGeom>
          <a:noFill/>
          <a:ln w="19050">
            <a:solidFill>
              <a:srgbClr val="7C3AED"/>
            </a:solidFill>
            <a:prstDash val="sysDot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Text 199"/>
          <p:cNvSpPr/>
          <p:nvPr/>
        </p:nvSpPr>
        <p:spPr>
          <a:xfrm>
            <a:off x="7119211" y="4709919"/>
            <a:ext cx="1011252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4 global</a:t>
            </a:r>
            <a:endParaRPr lang="en-US" sz="850" dirty="0"/>
          </a:p>
        </p:txBody>
      </p:sp>
      <p:sp>
        <p:nvSpPr>
          <p:cNvPr id="202" name="Text 200"/>
          <p:cNvSpPr/>
          <p:nvPr/>
        </p:nvSpPr>
        <p:spPr>
          <a:xfrm>
            <a:off x="431467" y="4939136"/>
            <a:ext cx="2966338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conditioning (charge, NCE) → (γ, β)</a:t>
            </a:r>
            <a:endParaRPr lang="en-US" sz="900" dirty="0"/>
          </a:p>
        </p:txBody>
      </p:sp>
      <p:sp>
        <p:nvSpPr>
          <p:cNvPr id="203" name="Text 201"/>
          <p:cNvSpPr/>
          <p:nvPr/>
        </p:nvSpPr>
        <p:spPr>
          <a:xfrm>
            <a:off x="3505672" y="4939136"/>
            <a:ext cx="3775339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p_i (per bond) · τ = 0.5 · 5-seed average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</Words>
  <Application>Microsoft Office PowerPoint</Application>
  <PresentationFormat>宽屏</PresentationFormat>
  <Paragraphs>41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GS J</cp:lastModifiedBy>
  <cp:revision>3</cp:revision>
  <dcterms:created xsi:type="dcterms:W3CDTF">2026-09-28T12:16:26Z</dcterms:created>
  <dcterms:modified xsi:type="dcterms:W3CDTF">2026-10-06T14:28:48Z</dcterms:modified>
</cp:coreProperties>
</file>