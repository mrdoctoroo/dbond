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998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9667" y="1595264"/>
            <a:ext cx="1671936" cy="2750604"/>
          </a:xfrm>
          <a:prstGeom prst="roundRect">
            <a:avLst>
              <a:gd name="adj" fmla="val 109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4051" y="1608747"/>
            <a:ext cx="1537102" cy="20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Input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1467" y="2026731"/>
            <a:ext cx="1348335" cy="188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1467" y="2242465"/>
            <a:ext cx="1348335" cy="269667"/>
          </a:xfrm>
          <a:prstGeom prst="roundRect">
            <a:avLst>
              <a:gd name="adj" fmla="val 678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31467" y="2242465"/>
            <a:ext cx="1348335" cy="2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 A   K   B   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1467" y="2660449"/>
            <a:ext cx="1348335" cy="16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synthesis conditions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467" y="2889666"/>
            <a:ext cx="1348335" cy="242700"/>
          </a:xfrm>
          <a:prstGeom prst="roundRect">
            <a:avLst>
              <a:gd name="adj" fmla="val 753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31467" y="2889666"/>
            <a:ext cx="1348335" cy="24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467" y="3186300"/>
            <a:ext cx="1348335" cy="242700"/>
          </a:xfrm>
          <a:prstGeom prst="roundRect">
            <a:avLst>
              <a:gd name="adj" fmla="val 7535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31467" y="3186300"/>
            <a:ext cx="1348335" cy="24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pep_mass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467" y="3482933"/>
            <a:ext cx="1348335" cy="242700"/>
          </a:xfrm>
          <a:prstGeom prst="roundRect">
            <a:avLst>
              <a:gd name="adj" fmla="val 753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31467" y="3482933"/>
            <a:ext cx="1348335" cy="24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1467" y="3833501"/>
            <a:ext cx="1348335" cy="350567"/>
          </a:xfrm>
          <a:prstGeom prst="roundRect">
            <a:avLst>
              <a:gd name="adj" fmla="val 5217"/>
            </a:avLst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31467" y="3833501"/>
            <a:ext cx="1348335" cy="350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excluded: intensity, scan_num, 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5762" y="1595264"/>
            <a:ext cx="1984455" cy="2750604"/>
          </a:xfrm>
          <a:prstGeom prst="roundRect">
            <a:avLst>
              <a:gd name="adj" fmla="val 2939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089920" y="1608747"/>
            <a:ext cx="2238237" cy="20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Graph construction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12404" y="1972798"/>
            <a:ext cx="296634" cy="296634"/>
          </a:xfrm>
          <a:prstGeom prst="roundRect">
            <a:avLst>
              <a:gd name="adj" fmla="val 616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939371" y="2002556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57337" y="2781799"/>
            <a:ext cx="296634" cy="296634"/>
          </a:xfrm>
          <a:prstGeom prst="roundRect">
            <a:avLst>
              <a:gd name="adj" fmla="val 6165"/>
            </a:avLst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157337" y="2781799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42737" y="2781799"/>
            <a:ext cx="296634" cy="296634"/>
          </a:xfrm>
          <a:prstGeom prst="roundRect">
            <a:avLst>
              <a:gd name="adj" fmla="val 6165"/>
            </a:avLst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2642737" y="2781799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28138" y="2781799"/>
            <a:ext cx="296634" cy="296634"/>
          </a:xfrm>
          <a:prstGeom prst="roundRect">
            <a:avLst>
              <a:gd name="adj" fmla="val 6165"/>
            </a:avLst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128138" y="2781799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13539" y="2781799"/>
            <a:ext cx="296634" cy="296634"/>
          </a:xfrm>
          <a:prstGeom prst="roundRect">
            <a:avLst>
              <a:gd name="adj" fmla="val 6165"/>
            </a:avLst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613539" y="2781799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62953" y="3233803"/>
            <a:ext cx="1941603" cy="16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d_max = 6 → |i − j| ≤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65203" y="3604284"/>
            <a:ext cx="1941603" cy="148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main chain (|i − j| = 1)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65203" y="3779567"/>
            <a:ext cx="1941603" cy="148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950" dirty="0">
                <a:latin typeface="Arial" pitchFamily="34" charset="0"/>
                <a:ea typeface="Arial" pitchFamily="34" charset="-122"/>
                <a:cs typeface="Arial" pitchFamily="34" charset="-120"/>
              </a:rPr>
              <a:t>——</a:t>
            </a:r>
            <a:r>
              <a:rPr lang="en-US" sz="950" dirty="0">
                <a:latin typeface="Arial" pitchFamily="34" charset="0"/>
                <a:ea typeface="Arial" pitchFamily="34" charset="-122"/>
                <a:cs typeface="Arial" pitchFamily="34" charset="-120"/>
              </a:rPr>
              <a:t>local edge (2 ≤ |i − j| ≤ 5)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65203" y="3954851"/>
            <a:ext cx="1941603" cy="148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95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——</a:t>
            </a:r>
            <a:r>
              <a:rPr lang="en-US" sz="95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global edge (v_g)</a:t>
            </a:r>
            <a:endParaRPr lang="en-US" sz="95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453970" y="2930116"/>
            <a:ext cx="188767" cy="9144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2939371" y="2930116"/>
            <a:ext cx="188767" cy="9144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3424772" y="2930116"/>
            <a:ext cx="188767" cy="9144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4159614" y="1595264"/>
            <a:ext cx="1961829" cy="2750604"/>
          </a:xfrm>
          <a:prstGeom prst="roundRect">
            <a:avLst>
              <a:gd name="adj" fmla="val 84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4193323" y="1608747"/>
            <a:ext cx="2022503" cy="20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Encoding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260740" y="2026731"/>
            <a:ext cx="1748174" cy="593268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4260740" y="2026731"/>
            <a:ext cx="1833736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encoding: AA ⊕ pos ⊕ physchem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60740" y="2727866"/>
            <a:ext cx="1748174" cy="593268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4260740" y="2727866"/>
            <a:ext cx="1725870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encoding: type ⊕ dist ⊕ attrs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260740" y="3429000"/>
            <a:ext cx="1748174" cy="593268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4260740" y="3429000"/>
            <a:ext cx="1833736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node emb. + condition vector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02343" y="1595264"/>
            <a:ext cx="1671936" cy="2750604"/>
          </a:xfrm>
          <a:prstGeom prst="roundRect">
            <a:avLst>
              <a:gd name="adj" fmla="val 1094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6296726" y="1608747"/>
            <a:ext cx="1537102" cy="20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FiLM conditioning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364143" y="2026731"/>
            <a:ext cx="1348335" cy="296634"/>
          </a:xfrm>
          <a:prstGeom prst="roundRect">
            <a:avLst>
              <a:gd name="adj" fmla="val 616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364143" y="2026731"/>
            <a:ext cx="1348335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charge, NCE ]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633810" y="2512132"/>
            <a:ext cx="809001" cy="323600"/>
          </a:xfrm>
          <a:prstGeom prst="roundRect">
            <a:avLst>
              <a:gd name="adj" fmla="val 5651"/>
            </a:avLst>
          </a:prstGeom>
          <a:solidFill>
            <a:srgbClr val="FECACA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6633810" y="2512132"/>
            <a:ext cx="809001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364143" y="3078433"/>
            <a:ext cx="539334" cy="269667"/>
          </a:xfrm>
          <a:prstGeom prst="roundRect">
            <a:avLst>
              <a:gd name="adj" fmla="val 6782"/>
            </a:avLst>
          </a:prstGeom>
          <a:solidFill>
            <a:srgbClr val="FECACA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6364143" y="3078433"/>
            <a:ext cx="539334" cy="2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173144" y="3078433"/>
            <a:ext cx="539334" cy="269667"/>
          </a:xfrm>
          <a:prstGeom prst="roundRect">
            <a:avLst>
              <a:gd name="adj" fmla="val 6782"/>
            </a:avLst>
          </a:prstGeom>
          <a:solidFill>
            <a:srgbClr val="FECACA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7173144" y="3078433"/>
            <a:ext cx="539334" cy="2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364143" y="3563834"/>
            <a:ext cx="1348335" cy="593268"/>
          </a:xfrm>
          <a:prstGeom prst="roundRect">
            <a:avLst>
              <a:gd name="adj" fmla="val 308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6364143" y="3563834"/>
            <a:ext cx="1348335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← (1 + γ) · h + β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038311" y="2323365"/>
            <a:ext cx="9144" cy="188767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 flipH="1">
            <a:off x="6633810" y="2835732"/>
            <a:ext cx="404501" cy="24270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7038311" y="2835732"/>
            <a:ext cx="404501" cy="24270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6633810" y="3348100"/>
            <a:ext cx="9144" cy="215734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7442811" y="3348100"/>
            <a:ext cx="9144" cy="215734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8157429" y="1595265"/>
            <a:ext cx="1671936" cy="2750604"/>
          </a:xfrm>
          <a:prstGeom prst="roundRect">
            <a:avLst>
              <a:gd name="adj" fmla="val 109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8238329" y="1608747"/>
            <a:ext cx="1537102" cy="20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Message passing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8305746" y="2026731"/>
            <a:ext cx="1348335" cy="701134"/>
          </a:xfrm>
          <a:prstGeom prst="roundRect">
            <a:avLst>
              <a:gd name="adj" fmla="val 260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8305746" y="2026731"/>
            <a:ext cx="1348335" cy="701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GCN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8305746" y="2835732"/>
            <a:ext cx="1348335" cy="701134"/>
          </a:xfrm>
          <a:prstGeom prst="roundRect">
            <a:avLst>
              <a:gd name="adj" fmla="val 260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/>
          <p:nvPr/>
        </p:nvSpPr>
        <p:spPr>
          <a:xfrm>
            <a:off x="8305746" y="2835732"/>
            <a:ext cx="1348335" cy="701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GAT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8305746" y="3644734"/>
            <a:ext cx="1348335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(residual + LayerNorm)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979914" y="2727866"/>
            <a:ext cx="9144" cy="107867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10085549" y="1595264"/>
            <a:ext cx="1725869" cy="2786731"/>
          </a:xfrm>
          <a:prstGeom prst="roundRect">
            <a:avLst>
              <a:gd name="adj" fmla="val 106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/>
          <p:nvPr/>
        </p:nvSpPr>
        <p:spPr>
          <a:xfrm>
            <a:off x="10179932" y="1608747"/>
            <a:ext cx="1591036" cy="20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Prediction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10247349" y="2026731"/>
            <a:ext cx="1402269" cy="539334"/>
          </a:xfrm>
          <a:prstGeom prst="roundRect">
            <a:avLst>
              <a:gd name="adj" fmla="val 339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/>
          <p:nvPr/>
        </p:nvSpPr>
        <p:spPr>
          <a:xfrm>
            <a:off x="10247349" y="2026731"/>
            <a:ext cx="1402269" cy="539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 (+15-d theory)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0409149" y="2754832"/>
            <a:ext cx="1078668" cy="296634"/>
          </a:xfrm>
          <a:prstGeom prst="roundRect">
            <a:avLst>
              <a:gd name="adj" fmla="val 616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/>
          <p:nvPr/>
        </p:nvSpPr>
        <p:spPr>
          <a:xfrm>
            <a:off x="10409149" y="2754832"/>
            <a:ext cx="1078668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10409149" y="3186300"/>
            <a:ext cx="1078668" cy="296634"/>
          </a:xfrm>
          <a:prstGeom prst="roundRect">
            <a:avLst>
              <a:gd name="adj" fmla="val 616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Text 83"/>
          <p:cNvSpPr/>
          <p:nvPr/>
        </p:nvSpPr>
        <p:spPr>
          <a:xfrm>
            <a:off x="10409149" y="3186300"/>
            <a:ext cx="1078668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10247349" y="3644734"/>
            <a:ext cx="1402269" cy="593268"/>
          </a:xfrm>
          <a:prstGeom prst="roundRect">
            <a:avLst>
              <a:gd name="adj" fmla="val 308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Text 85"/>
          <p:cNvSpPr/>
          <p:nvPr/>
        </p:nvSpPr>
        <p:spPr>
          <a:xfrm>
            <a:off x="10247349" y="3644734"/>
            <a:ext cx="1402269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probability p_i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10948483" y="2566065"/>
            <a:ext cx="9144" cy="188767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hape 87"/>
          <p:cNvSpPr/>
          <p:nvPr/>
        </p:nvSpPr>
        <p:spPr>
          <a:xfrm>
            <a:off x="10948483" y="3051466"/>
            <a:ext cx="9144" cy="134834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Shape 88"/>
          <p:cNvSpPr/>
          <p:nvPr/>
        </p:nvSpPr>
        <p:spPr>
          <a:xfrm>
            <a:off x="10948483" y="3482933"/>
            <a:ext cx="9144" cy="16180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hape 89"/>
          <p:cNvSpPr/>
          <p:nvPr/>
        </p:nvSpPr>
        <p:spPr>
          <a:xfrm flipV="1">
            <a:off x="1644970" y="2103292"/>
            <a:ext cx="1253952" cy="26052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Shape 90"/>
          <p:cNvSpPr/>
          <p:nvPr/>
        </p:nvSpPr>
        <p:spPr>
          <a:xfrm flipV="1">
            <a:off x="3910173" y="2323365"/>
            <a:ext cx="350567" cy="606751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hape 91"/>
          <p:cNvSpPr/>
          <p:nvPr/>
        </p:nvSpPr>
        <p:spPr>
          <a:xfrm flipV="1">
            <a:off x="6094476" y="2175048"/>
            <a:ext cx="269667" cy="155058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Shape 92"/>
          <p:cNvSpPr/>
          <p:nvPr/>
        </p:nvSpPr>
        <p:spPr>
          <a:xfrm flipV="1">
            <a:off x="7712478" y="2377298"/>
            <a:ext cx="593268" cy="1483169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Shape 93"/>
          <p:cNvSpPr/>
          <p:nvPr/>
        </p:nvSpPr>
        <p:spPr>
          <a:xfrm flipV="1">
            <a:off x="9654081" y="2296398"/>
            <a:ext cx="593268" cy="1240469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Shape 94"/>
          <p:cNvSpPr/>
          <p:nvPr/>
        </p:nvSpPr>
        <p:spPr>
          <a:xfrm>
            <a:off x="269667" y="4467218"/>
            <a:ext cx="11433884" cy="889901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Text 95"/>
          <p:cNvSpPr/>
          <p:nvPr/>
        </p:nvSpPr>
        <p:spPr>
          <a:xfrm>
            <a:off x="377534" y="4521152"/>
            <a:ext cx="2022503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431467" y="4750369"/>
            <a:ext cx="2292170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Residue node · Global node v_g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2764088" y="4750369"/>
            <a:ext cx="2427004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main chain   – – local   ··· global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5325925" y="4750369"/>
            <a:ext cx="2831504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 conditioning (charge, NCE) → (γ, β)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8224846" y="4750369"/>
            <a:ext cx="3640506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p_i (per bond) · τ = 0.5 · 5-seed avg → Ens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431467" y="4979586"/>
            <a:ext cx="10921517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15-d theory features: prefix/suffix mass · b/y m/z · relative position · side-chain mass · H2O/NH3 loss · Pro context</a:t>
            </a:r>
            <a:endParaRPr lang="en-US" sz="950" dirty="0"/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55FE200A-763F-821C-1CE8-3FA51A5EAA33}"/>
              </a:ext>
            </a:extLst>
          </p:cNvPr>
          <p:cNvSpPr/>
          <p:nvPr/>
        </p:nvSpPr>
        <p:spPr>
          <a:xfrm>
            <a:off x="2280062" y="2474013"/>
            <a:ext cx="1017236" cy="352314"/>
          </a:xfrm>
          <a:custGeom>
            <a:avLst/>
            <a:gdLst>
              <a:gd name="csX0" fmla="*/ 0 w 1017236"/>
              <a:gd name="csY0" fmla="*/ 292938 h 352314"/>
              <a:gd name="csX1" fmla="*/ 257299 w 1017236"/>
              <a:gd name="csY1" fmla="*/ 13 h 352314"/>
              <a:gd name="csX2" fmla="*/ 973777 w 1017236"/>
              <a:gd name="csY2" fmla="*/ 281062 h 352314"/>
              <a:gd name="csX3" fmla="*/ 946068 w 1017236"/>
              <a:gd name="csY3" fmla="*/ 352314 h 3523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17236" h="352314">
                <a:moveTo>
                  <a:pt x="0" y="292938"/>
                </a:moveTo>
                <a:cubicBezTo>
                  <a:pt x="47501" y="147465"/>
                  <a:pt x="95003" y="1992"/>
                  <a:pt x="257299" y="13"/>
                </a:cubicBezTo>
                <a:cubicBezTo>
                  <a:pt x="419595" y="-1966"/>
                  <a:pt x="858982" y="222345"/>
                  <a:pt x="973777" y="281062"/>
                </a:cubicBezTo>
                <a:cubicBezTo>
                  <a:pt x="1088572" y="339779"/>
                  <a:pt x="938811" y="316028"/>
                  <a:pt x="946068" y="352314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B4BBD051-D395-9367-DB35-01C42AE772B4}"/>
              </a:ext>
            </a:extLst>
          </p:cNvPr>
          <p:cNvSpPr/>
          <p:nvPr/>
        </p:nvSpPr>
        <p:spPr>
          <a:xfrm>
            <a:off x="2723408" y="2414585"/>
            <a:ext cx="1060862" cy="376116"/>
          </a:xfrm>
          <a:custGeom>
            <a:avLst/>
            <a:gdLst>
              <a:gd name="csX0" fmla="*/ 0 w 1060862"/>
              <a:gd name="csY0" fmla="*/ 352366 h 376116"/>
              <a:gd name="csX1" fmla="*/ 708561 w 1060862"/>
              <a:gd name="csY1" fmla="*/ 64 h 376116"/>
              <a:gd name="csX2" fmla="*/ 1060862 w 1060862"/>
              <a:gd name="csY2" fmla="*/ 376116 h 3761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60862" h="376116">
                <a:moveTo>
                  <a:pt x="0" y="352366"/>
                </a:moveTo>
                <a:cubicBezTo>
                  <a:pt x="265875" y="174236"/>
                  <a:pt x="531751" y="-3894"/>
                  <a:pt x="708561" y="64"/>
                </a:cubicBezTo>
                <a:cubicBezTo>
                  <a:pt x="885371" y="4022"/>
                  <a:pt x="1005444" y="307503"/>
                  <a:pt x="1060862" y="376116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2D74831F-4353-A8D5-5E61-125CFD8A9CE5}"/>
              </a:ext>
            </a:extLst>
          </p:cNvPr>
          <p:cNvCxnSpPr>
            <a:endCxn id="20" idx="0"/>
          </p:cNvCxnSpPr>
          <p:nvPr/>
        </p:nvCxnSpPr>
        <p:spPr>
          <a:xfrm flipH="1">
            <a:off x="2305654" y="2269432"/>
            <a:ext cx="633717" cy="5123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DEA4DCC7-A540-F8A9-1C92-D4245B78FB86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 flipH="1">
            <a:off x="2791054" y="2269432"/>
            <a:ext cx="269667" cy="5123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71FE1176-5F1D-4723-974A-556793183C4D}"/>
              </a:ext>
            </a:extLst>
          </p:cNvPr>
          <p:cNvCxnSpPr>
            <a:endCxn id="106" idx="2"/>
          </p:cNvCxnSpPr>
          <p:nvPr/>
        </p:nvCxnSpPr>
        <p:spPr>
          <a:xfrm>
            <a:off x="3060721" y="2299190"/>
            <a:ext cx="193118" cy="45588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708550AA-2A40-339D-7E69-951DF5ADE065}"/>
              </a:ext>
            </a:extLst>
          </p:cNvPr>
          <p:cNvCxnSpPr>
            <a:endCxn id="26" idx="0"/>
          </p:cNvCxnSpPr>
          <p:nvPr/>
        </p:nvCxnSpPr>
        <p:spPr>
          <a:xfrm>
            <a:off x="3091543" y="2269432"/>
            <a:ext cx="670313" cy="5123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236</Words>
  <Application>Microsoft Office PowerPoint</Application>
  <PresentationFormat>宽屏</PresentationFormat>
  <Paragraphs>44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GS J</cp:lastModifiedBy>
  <cp:revision>2</cp:revision>
  <dcterms:created xsi:type="dcterms:W3CDTF">2026-09-21T07:53:33Z</dcterms:created>
  <dcterms:modified xsi:type="dcterms:W3CDTF">2026-09-21T08:45:47Z</dcterms:modified>
</cp:coreProperties>
</file>