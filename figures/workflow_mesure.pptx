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916400" cy="8887968"/>
  <p:notesSz cx="8887968" cy="1691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122" y="382219"/>
            <a:ext cx="2293315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1E6B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7122" y="382219"/>
            <a:ext cx="2293315" cy="382219"/>
          </a:xfrm>
          <a:prstGeom prst="rect">
            <a:avLst/>
          </a:prstGeom>
          <a:solidFill>
            <a:srgbClr val="1E6BB8"/>
          </a:solidFill>
          <a:ln w="9557">
            <a:solidFill>
              <a:srgbClr val="1E6B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7122" y="382219"/>
            <a:ext cx="2293315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1  Raw Binary Data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7122" y="1003097"/>
            <a:ext cx="2293315" cy="1003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01010110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10110101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01011011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87122" y="2561234"/>
            <a:ext cx="2293315" cy="47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binary files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(text, images, videos, etc.)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962656" y="382219"/>
            <a:ext cx="2293315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4F7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62656" y="382219"/>
            <a:ext cx="2293315" cy="382219"/>
          </a:xfrm>
          <a:prstGeom prst="rect">
            <a:avLst/>
          </a:prstGeom>
          <a:solidFill>
            <a:srgbClr val="4F7F3A"/>
          </a:solidFill>
          <a:ln w="9557">
            <a:solidFill>
              <a:srgbClr val="4F7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382219"/>
            <a:ext cx="2293315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2  Encoding Mapping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62656" y="907999"/>
            <a:ext cx="2293315" cy="1815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→ Amino Acid</a:t>
            </a:r>
            <a:endParaRPr lang="en-US" sz="102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00  →  A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01  →  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  →  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  →  D</a:t>
            </a:r>
            <a:endParaRPr lang="en-US" sz="1020" dirty="0"/>
          </a:p>
          <a:p>
            <a:pPr algn="ctr" indent="0" marL="0">
              <a:buNone/>
            </a:pPr>
            <a:r>
              <a:rPr lang="en-US" sz="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2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639105" y="382219"/>
            <a:ext cx="2485339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4E9A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9105" y="382219"/>
            <a:ext cx="2485339" cy="420624"/>
          </a:xfrm>
          <a:prstGeom prst="rect">
            <a:avLst/>
          </a:prstGeom>
          <a:solidFill>
            <a:srgbClr val="4E9A47"/>
          </a:solidFill>
          <a:ln w="9557">
            <a:solidFill>
              <a:srgbClr val="4E9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9105" y="382219"/>
            <a:ext cx="24853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3  Candidate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Peptide Sequences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39105" y="879653"/>
            <a:ext cx="2485339" cy="124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1: H-Lys-Ala-Arg-Gly-...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2: H-Gly-Asn-Leu-Tyr-...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3: H-Arg-Val-Asn-Ala-...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 N: H-Leu-Gly-Lys-Val-...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877763" y="2752344"/>
            <a:ext cx="2179015" cy="0"/>
          </a:xfrm>
          <a:prstGeom prst="line">
            <a:avLst/>
          </a:prstGeom>
          <a:noFill/>
          <a:ln w="11469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0214" y="2599639"/>
            <a:ext cx="152705" cy="152705"/>
          </a:xfrm>
          <a:prstGeom prst="ellipse">
            <a:avLst/>
          </a:prstGeom>
          <a:solidFill>
            <a:srgbClr val="9DC3E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8017" y="2599639"/>
            <a:ext cx="152705" cy="152705"/>
          </a:xfrm>
          <a:prstGeom prst="ellipse">
            <a:avLst/>
          </a:prstGeom>
          <a:solidFill>
            <a:srgbClr val="E066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6734" y="2599639"/>
            <a:ext cx="152705" cy="152705"/>
          </a:xfrm>
          <a:prstGeom prst="ellipse">
            <a:avLst/>
          </a:prstGeom>
          <a:solidFill>
            <a:srgbClr val="F6B26B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5450" y="2599639"/>
            <a:ext cx="152705" cy="152705"/>
          </a:xfrm>
          <a:prstGeom prst="ellipse">
            <a:avLst/>
          </a:prstGeom>
          <a:solidFill>
            <a:srgbClr val="FFD9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24167" y="2599639"/>
            <a:ext cx="152705" cy="152705"/>
          </a:xfrm>
          <a:prstGeom prst="ellipse">
            <a:avLst/>
          </a:prstGeom>
          <a:solidFill>
            <a:srgbClr val="93C47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1970" y="2599639"/>
            <a:ext cx="152705" cy="152705"/>
          </a:xfrm>
          <a:prstGeom prst="ellipse">
            <a:avLst/>
          </a:prstGeom>
          <a:solidFill>
            <a:srgbClr val="B4A7D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0686" y="2599639"/>
            <a:ext cx="152705" cy="152705"/>
          </a:xfrm>
          <a:prstGeom prst="ellipse">
            <a:avLst/>
          </a:prstGeom>
          <a:solidFill>
            <a:srgbClr val="76C7C0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9403" y="2599639"/>
            <a:ext cx="152705" cy="152705"/>
          </a:xfrm>
          <a:prstGeom prst="ellipse">
            <a:avLst/>
          </a:prstGeom>
          <a:solidFill>
            <a:srgbClr val="D5A6B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599639"/>
            <a:ext cx="152705" cy="152705"/>
          </a:xfrm>
          <a:prstGeom prst="ellipse">
            <a:avLst/>
          </a:prstGeom>
          <a:solidFill>
            <a:srgbClr val="9DC3E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5749" y="287122"/>
            <a:ext cx="2580437" cy="3058668"/>
          </a:xfrm>
          <a:prstGeom prst="rect">
            <a:avLst/>
          </a:prstGeom>
          <a:solidFill>
            <a:srgbClr val="FFFFFF"/>
          </a:solidFill>
          <a:ln w="19115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5749" y="287122"/>
            <a:ext cx="2580437" cy="583387"/>
          </a:xfrm>
          <a:prstGeom prst="rect">
            <a:avLst/>
          </a:prstGeom>
          <a:solidFill>
            <a:srgbClr val="C00000"/>
          </a:solidFill>
          <a:ln w="9557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5749" y="287122"/>
            <a:ext cx="2580437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4  Peptide Bond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Cleavage Prediction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(Critical Step)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127541" y="1242670"/>
            <a:ext cx="1337767" cy="907999"/>
          </a:xfrm>
          <a:prstGeom prst="rect">
            <a:avLst/>
          </a:prstGeom>
          <a:solidFill>
            <a:srgbClr val="FFFFFF"/>
          </a:solidFill>
          <a:ln w="19115">
            <a:solidFill>
              <a:srgbClr val="3B3B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18650" y="1805940"/>
            <a:ext cx="57607" cy="267919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43009" y="1614830"/>
            <a:ext cx="57607" cy="459029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6453" y="1710842"/>
            <a:ext cx="57607" cy="363017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0811" y="1481328"/>
            <a:ext cx="57607" cy="592531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15170" y="1577340"/>
            <a:ext cx="57607" cy="497434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39528" y="1386230"/>
            <a:ext cx="57607" cy="688543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63886" y="1672438"/>
            <a:ext cx="57607" cy="401422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88245" y="1519733"/>
            <a:ext cx="57607" cy="554126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12603" y="1768450"/>
            <a:ext cx="57607" cy="305410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29216" y="2150669"/>
            <a:ext cx="114300" cy="114300"/>
          </a:xfrm>
          <a:prstGeom prst="rect">
            <a:avLst/>
          </a:prstGeom>
          <a:solidFill>
            <a:srgbClr val="3B3B3B"/>
          </a:solidFill>
          <a:ln w="9557">
            <a:solidFill>
              <a:srgbClr val="3B3B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0558" y="2264969"/>
            <a:ext cx="592531" cy="57607"/>
          </a:xfrm>
          <a:prstGeom prst="roundRect">
            <a:avLst>
              <a:gd name="adj" fmla="val 33333"/>
            </a:avLst>
          </a:prstGeom>
          <a:solidFill>
            <a:srgbClr val="3B3B3B"/>
          </a:solidFill>
          <a:ln w="9557">
            <a:solidFill>
              <a:srgbClr val="3B3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5749" y="2503627"/>
            <a:ext cx="2580437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peptide bond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cleavage probabilities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11468405" y="382219"/>
            <a:ext cx="2389327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BF9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68405" y="382219"/>
            <a:ext cx="2389327" cy="420624"/>
          </a:xfrm>
          <a:prstGeom prst="rect">
            <a:avLst/>
          </a:prstGeom>
          <a:solidFill>
            <a:srgbClr val="BF9000"/>
          </a:solidFill>
          <a:ln w="9557">
            <a:solidFill>
              <a:srgbClr val="BF9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68405" y="382219"/>
            <a:ext cx="2389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5  Optimal Sequence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611966" y="907999"/>
            <a:ext cx="210220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980" dirty="0"/>
          </a:p>
          <a:p>
            <a:pPr algn="l" indent="0" marL="0">
              <a:buNone/>
            </a:pPr>
            <a:r>
              <a:rPr lang="en-US" sz="5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High cleavage yield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(predictability)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Sequence stability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Chemical synthesizability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Length constraint</a:t>
            </a:r>
            <a:endParaRPr lang="en-US" sz="98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11468405" y="2561234"/>
            <a:ext cx="2389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optimal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peptide sequence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14239951" y="382219"/>
            <a:ext cx="2293315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7030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39951" y="382219"/>
            <a:ext cx="2293315" cy="420624"/>
          </a:xfrm>
          <a:prstGeom prst="rect">
            <a:avLst/>
          </a:prstGeom>
          <a:solidFill>
            <a:srgbClr val="7030A0"/>
          </a:solidFill>
          <a:ln w="9557">
            <a:solidFill>
              <a:srgbClr val="7030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239951" y="382219"/>
            <a:ext cx="22933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6  Chemical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5215616" y="1013155"/>
            <a:ext cx="152705" cy="171907"/>
          </a:xfrm>
          <a:prstGeom prst="rect">
            <a:avLst/>
          </a:prstGeom>
          <a:solidFill>
            <a:srgbClr val="FFFFFF"/>
          </a:solidFill>
          <a:ln w="14336">
            <a:solidFill>
              <a:srgbClr val="5B7C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966899" y="1165860"/>
            <a:ext cx="554126" cy="592531"/>
          </a:xfrm>
          <a:prstGeom prst="triangle">
            <a:avLst/>
          </a:prstGeom>
          <a:solidFill>
            <a:srgbClr val="BDD7EE"/>
          </a:solidFill>
          <a:ln w="14336">
            <a:solidFill>
              <a:srgbClr val="5B7C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673730" y="1337767"/>
            <a:ext cx="114300" cy="114300"/>
          </a:xfrm>
          <a:prstGeom prst="ellipse">
            <a:avLst/>
          </a:prstGeom>
          <a:solidFill>
            <a:srgbClr val="F6B26B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817291" y="1261872"/>
            <a:ext cx="114300" cy="114300"/>
          </a:xfrm>
          <a:prstGeom prst="ellipse">
            <a:avLst/>
          </a:prstGeom>
          <a:solidFill>
            <a:srgbClr val="FFD9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960852" y="1204265"/>
            <a:ext cx="114300" cy="114300"/>
          </a:xfrm>
          <a:prstGeom prst="ellipse">
            <a:avLst/>
          </a:prstGeom>
          <a:solidFill>
            <a:srgbClr val="93C47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104413" y="1261872"/>
            <a:ext cx="114300" cy="114300"/>
          </a:xfrm>
          <a:prstGeom prst="ellipse">
            <a:avLst/>
          </a:prstGeom>
          <a:solidFill>
            <a:srgbClr val="B4A7D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247059" y="1337767"/>
            <a:ext cx="114300" cy="114300"/>
          </a:xfrm>
          <a:prstGeom prst="ellipse">
            <a:avLst/>
          </a:prstGeom>
          <a:solidFill>
            <a:srgbClr val="76C7C0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239951" y="2389327"/>
            <a:ext cx="2293315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Solid-phase peptide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and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purification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14239951" y="4491533"/>
            <a:ext cx="2293315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12766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239951" y="4491533"/>
            <a:ext cx="2293315" cy="420624"/>
          </a:xfrm>
          <a:prstGeom prst="rect">
            <a:avLst/>
          </a:prstGeom>
          <a:solidFill>
            <a:srgbClr val="12766E"/>
          </a:solidFill>
          <a:ln w="9557">
            <a:solidFill>
              <a:srgbClr val="12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239951" y="4491533"/>
            <a:ext cx="22933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7  Tandem Mass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Spectrometry (MS/MS)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4527073" y="5237683"/>
            <a:ext cx="1719986" cy="669341"/>
          </a:xfrm>
          <a:prstGeom prst="roundRect">
            <a:avLst>
              <a:gd name="adj" fmla="val 5738"/>
            </a:avLst>
          </a:prstGeom>
          <a:solidFill>
            <a:srgbClr val="EDF1F6"/>
          </a:solidFill>
          <a:ln w="14336">
            <a:solidFill>
              <a:srgbClr val="33475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27073" y="5084064"/>
            <a:ext cx="497434" cy="822046"/>
          </a:xfrm>
          <a:prstGeom prst="rect">
            <a:avLst/>
          </a:prstGeom>
          <a:solidFill>
            <a:srgbClr val="D6DEE8"/>
          </a:solidFill>
          <a:ln w="14336">
            <a:solidFill>
              <a:srgbClr val="33475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215616" y="5103266"/>
            <a:ext cx="439826" cy="133502"/>
          </a:xfrm>
          <a:prstGeom prst="rect">
            <a:avLst/>
          </a:prstGeom>
          <a:solidFill>
            <a:srgbClr val="D6DEE8"/>
          </a:solidFill>
          <a:ln w="14336">
            <a:solidFill>
              <a:srgbClr val="33475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788945" y="5332781"/>
            <a:ext cx="382219" cy="267919"/>
          </a:xfrm>
          <a:prstGeom prst="rect">
            <a:avLst/>
          </a:prstGeom>
          <a:solidFill>
            <a:srgbClr val="FFFFFF"/>
          </a:solidFill>
          <a:ln w="11469">
            <a:solidFill>
              <a:srgbClr val="33475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845638" y="5467198"/>
            <a:ext cx="38405" cy="76810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922447" y="5409590"/>
            <a:ext cx="38405" cy="133502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999257" y="5447995"/>
            <a:ext cx="38405" cy="96012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75152" y="5390388"/>
            <a:ext cx="38405" cy="152705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623085" y="6231636"/>
            <a:ext cx="0" cy="573329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623085" y="6804965"/>
            <a:ext cx="1528877" cy="0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861743" y="6594653"/>
            <a:ext cx="47549" cy="210312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775790" y="6451092"/>
            <a:ext cx="2194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15147950" y="6422746"/>
            <a:ext cx="47549" cy="382219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5061997" y="6279185"/>
            <a:ext cx="2194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15435072" y="6517843"/>
            <a:ext cx="47549" cy="287122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349118" y="6374282"/>
            <a:ext cx="2194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15722194" y="6345936"/>
            <a:ext cx="47549" cy="459029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35326" y="6202375"/>
            <a:ext cx="2194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16008401" y="6575450"/>
            <a:ext cx="47549" cy="229514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922447" y="6431890"/>
            <a:ext cx="2194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y4</a:t>
            </a:r>
            <a:endParaRPr lang="en-US" sz="680" dirty="0"/>
          </a:p>
        </p:txBody>
      </p:sp>
      <p:sp>
        <p:nvSpPr>
          <p:cNvPr id="80" name="Text 78"/>
          <p:cNvSpPr/>
          <p:nvPr/>
        </p:nvSpPr>
        <p:spPr>
          <a:xfrm>
            <a:off x="16247059" y="6843370"/>
            <a:ext cx="2871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m/z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4239951" y="7034479"/>
            <a:ext cx="2293315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MS/MS spectra</a:t>
            </a:r>
            <a:endParaRPr lang="en-US" sz="940" dirty="0"/>
          </a:p>
        </p:txBody>
      </p:sp>
      <p:sp>
        <p:nvSpPr>
          <p:cNvPr id="82" name="Shape 80"/>
          <p:cNvSpPr/>
          <p:nvPr/>
        </p:nvSpPr>
        <p:spPr>
          <a:xfrm>
            <a:off x="2580437" y="4491533"/>
            <a:ext cx="2293315" cy="2867558"/>
          </a:xfrm>
          <a:prstGeom prst="rect">
            <a:avLst/>
          </a:prstGeom>
          <a:solidFill>
            <a:srgbClr val="FFFFFF"/>
          </a:solidFill>
          <a:ln w="19115">
            <a:solidFill>
              <a:srgbClr val="1E6B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80437" y="4491533"/>
            <a:ext cx="2293315" cy="382219"/>
          </a:xfrm>
          <a:prstGeom prst="rect">
            <a:avLst/>
          </a:prstGeom>
          <a:solidFill>
            <a:srgbClr val="1E6BB8"/>
          </a:solidFill>
          <a:ln w="9557">
            <a:solidFill>
              <a:srgbClr val="1E6B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80437" y="4491533"/>
            <a:ext cx="2293315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8  Data Recovery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058668" y="5160874"/>
            <a:ext cx="1337767" cy="860450"/>
          </a:xfrm>
          <a:prstGeom prst="rect">
            <a:avLst/>
          </a:prstGeom>
          <a:solidFill>
            <a:srgbClr val="FFFFFF"/>
          </a:solidFill>
          <a:ln w="19115">
            <a:solidFill>
              <a:srgbClr val="3B3B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15361" y="5218481"/>
            <a:ext cx="1223467" cy="745236"/>
          </a:xfrm>
          <a:prstGeom prst="rect">
            <a:avLst/>
          </a:prstGeom>
          <a:solidFill>
            <a:srgbClr val="101820"/>
          </a:solidFill>
          <a:ln w="9557">
            <a:solidFill>
              <a:srgbClr val="10182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15361" y="5218481"/>
            <a:ext cx="1223467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dirty="0">
                <a:solidFill>
                  <a:srgbClr val="7CF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01010110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7CF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10110101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7CF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01011011</a:t>
            </a:r>
            <a:endParaRPr lang="en-US" sz="790" dirty="0"/>
          </a:p>
          <a:p>
            <a:pPr algn="ctr" indent="0" marL="0">
              <a:buNone/>
            </a:pPr>
            <a:r>
              <a:rPr lang="en-US" sz="790" dirty="0">
                <a:solidFill>
                  <a:srgbClr val="7CF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lang="en-US" sz="790" dirty="0"/>
          </a:p>
        </p:txBody>
      </p:sp>
      <p:sp>
        <p:nvSpPr>
          <p:cNvPr id="88" name="Shape 86"/>
          <p:cNvSpPr/>
          <p:nvPr/>
        </p:nvSpPr>
        <p:spPr>
          <a:xfrm>
            <a:off x="2915107" y="6021324"/>
            <a:ext cx="1624889" cy="96012"/>
          </a:xfrm>
          <a:prstGeom prst="roundRect">
            <a:avLst>
              <a:gd name="adj" fmla="val 29524"/>
            </a:avLst>
          </a:prstGeom>
          <a:solidFill>
            <a:srgbClr val="B7C0CC"/>
          </a:solidFill>
          <a:ln w="9557">
            <a:solidFill>
              <a:srgbClr val="8A94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80437" y="6384341"/>
            <a:ext cx="2293315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decoding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error correction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recover the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binary data</a:t>
            </a:r>
            <a:endParaRPr lang="en-US" sz="940" dirty="0"/>
          </a:p>
        </p:txBody>
      </p:sp>
      <p:sp>
        <p:nvSpPr>
          <p:cNvPr id="90" name="Shape 88"/>
          <p:cNvSpPr/>
          <p:nvPr/>
        </p:nvSpPr>
        <p:spPr>
          <a:xfrm>
            <a:off x="716890" y="4969764"/>
            <a:ext cx="1433779" cy="1911096"/>
          </a:xfrm>
          <a:prstGeom prst="roundRect">
            <a:avLst>
              <a:gd name="adj" fmla="val 7972"/>
            </a:avLst>
          </a:prstGeom>
          <a:solidFill>
            <a:srgbClr val="FFFFFF">
              <a:alpha val="0"/>
            </a:srgbClr>
          </a:solidFill>
          <a:ln w="14336">
            <a:solidFill>
              <a:srgbClr val="555555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716890" y="4969764"/>
            <a:ext cx="1433779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design-and-readout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40" dirty="0"/>
          </a:p>
        </p:txBody>
      </p:sp>
      <p:sp>
        <p:nvSpPr>
          <p:cNvPr id="92" name="Text 90"/>
          <p:cNvSpPr/>
          <p:nvPr/>
        </p:nvSpPr>
        <p:spPr>
          <a:xfrm>
            <a:off x="5351983" y="4090111"/>
            <a:ext cx="8219542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Pattern Comparison (Example)</a:t>
            </a:r>
            <a:endParaRPr lang="en-US" sz="1130" dirty="0"/>
          </a:p>
        </p:txBody>
      </p:sp>
      <p:sp>
        <p:nvSpPr>
          <p:cNvPr id="93" name="Shape 91"/>
          <p:cNvSpPr/>
          <p:nvPr/>
        </p:nvSpPr>
        <p:spPr>
          <a:xfrm>
            <a:off x="5351983" y="4491533"/>
            <a:ext cx="8219542" cy="4014216"/>
          </a:xfrm>
          <a:prstGeom prst="rect">
            <a:avLst/>
          </a:prstGeom>
          <a:solidFill>
            <a:srgbClr val="FFFFFF">
              <a:alpha val="0"/>
            </a:srgbClr>
          </a:solidFill>
          <a:ln w="14336">
            <a:solidFill>
              <a:srgbClr val="666666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5543093" y="4731106"/>
            <a:ext cx="3918204" cy="573329"/>
          </a:xfrm>
          <a:prstGeom prst="rect">
            <a:avLst/>
          </a:prstGeom>
          <a:solidFill>
            <a:srgbClr val="D6E8CE"/>
          </a:solidFill>
          <a:ln w="14336">
            <a:solidFill>
              <a:srgbClr val="53813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43093" y="4731106"/>
            <a:ext cx="3918204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Fragmentation (Higher Coverage Propensity)</a:t>
            </a:r>
            <a:endParaRPr lang="en-US" sz="102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predicted cleavage sites,</a:t>
            </a:r>
            <a:endParaRPr lang="en-US" sz="102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potential fragment information</a:t>
            </a:r>
            <a:endParaRPr lang="en-US" sz="1020" dirty="0"/>
          </a:p>
        </p:txBody>
      </p:sp>
      <p:sp>
        <p:nvSpPr>
          <p:cNvPr id="96" name="Shape 94"/>
          <p:cNvSpPr/>
          <p:nvPr/>
        </p:nvSpPr>
        <p:spPr>
          <a:xfrm>
            <a:off x="5543093" y="5304434"/>
            <a:ext cx="3918204" cy="3010205"/>
          </a:xfrm>
          <a:prstGeom prst="rect">
            <a:avLst/>
          </a:prstGeom>
          <a:solidFill>
            <a:srgbClr val="FFFFFF"/>
          </a:solidFill>
          <a:ln w="14336">
            <a:solidFill>
              <a:srgbClr val="53813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76595" y="552389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H—</a:t>
            </a:r>
            <a:endParaRPr lang="en-US" sz="870" dirty="0"/>
          </a:p>
        </p:txBody>
      </p:sp>
      <p:sp>
        <p:nvSpPr>
          <p:cNvPr id="98" name="Shape 96"/>
          <p:cNvSpPr/>
          <p:nvPr/>
        </p:nvSpPr>
        <p:spPr>
          <a:xfrm>
            <a:off x="5972861" y="5600700"/>
            <a:ext cx="2275027" cy="0"/>
          </a:xfrm>
          <a:prstGeom prst="line">
            <a:avLst/>
          </a:prstGeom>
          <a:noFill/>
          <a:ln w="11469">
            <a:solidFill>
              <a:srgbClr val="99999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86907" y="5371186"/>
            <a:ext cx="229514" cy="229514"/>
          </a:xfrm>
          <a:prstGeom prst="ellipse">
            <a:avLst/>
          </a:prstGeom>
          <a:solidFill>
            <a:srgbClr val="9DC3E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02122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174029" y="5371186"/>
            <a:ext cx="229514" cy="229514"/>
          </a:xfrm>
          <a:prstGeom prst="ellipse">
            <a:avLst/>
          </a:prstGeom>
          <a:solidFill>
            <a:srgbClr val="E066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88329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61150" y="5371186"/>
            <a:ext cx="229514" cy="229514"/>
          </a:xfrm>
          <a:prstGeom prst="ellipse">
            <a:avLst/>
          </a:prstGeom>
          <a:solidFill>
            <a:srgbClr val="F6B26B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75450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747358" y="5371186"/>
            <a:ext cx="229514" cy="229514"/>
          </a:xfrm>
          <a:prstGeom prst="ellipse">
            <a:avLst/>
          </a:prstGeom>
          <a:solidFill>
            <a:srgbClr val="FFD9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62572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034479" y="5371186"/>
            <a:ext cx="229514" cy="229514"/>
          </a:xfrm>
          <a:prstGeom prst="ellipse">
            <a:avLst/>
          </a:prstGeom>
          <a:solidFill>
            <a:srgbClr val="93C47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148779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320686" y="5371186"/>
            <a:ext cx="229514" cy="229514"/>
          </a:xfrm>
          <a:prstGeom prst="ellipse">
            <a:avLst/>
          </a:prstGeom>
          <a:solidFill>
            <a:srgbClr val="B4A7D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35901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607808" y="5371186"/>
            <a:ext cx="229514" cy="229514"/>
          </a:xfrm>
          <a:prstGeom prst="ellipse">
            <a:avLst/>
          </a:prstGeom>
          <a:solidFill>
            <a:srgbClr val="76C7C0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722108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894015" y="5371186"/>
            <a:ext cx="229514" cy="229514"/>
          </a:xfrm>
          <a:prstGeom prst="ellipse">
            <a:avLst/>
          </a:prstGeom>
          <a:solidFill>
            <a:srgbClr val="D5A6B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09230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259982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6547104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7120433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7693762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19" name="Text 117"/>
          <p:cNvSpPr/>
          <p:nvPr/>
        </p:nvSpPr>
        <p:spPr>
          <a:xfrm>
            <a:off x="8104327" y="5523890"/>
            <a:ext cx="5733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—···</a:t>
            </a:r>
            <a:endParaRPr lang="en-US" sz="870" dirty="0"/>
          </a:p>
        </p:txBody>
      </p:sp>
      <p:sp>
        <p:nvSpPr>
          <p:cNvPr id="120" name="Text 118"/>
          <p:cNvSpPr/>
          <p:nvPr/>
        </p:nvSpPr>
        <p:spPr>
          <a:xfrm>
            <a:off x="5543093" y="5811012"/>
            <a:ext cx="39182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b/y ions: abundant</a:t>
            </a:r>
            <a:endParaRPr lang="en-US" sz="940" dirty="0"/>
          </a:p>
        </p:txBody>
      </p:sp>
      <p:sp>
        <p:nvSpPr>
          <p:cNvPr id="121" name="Shape 119"/>
          <p:cNvSpPr/>
          <p:nvPr/>
        </p:nvSpPr>
        <p:spPr>
          <a:xfrm>
            <a:off x="6116422" y="6135624"/>
            <a:ext cx="0" cy="1509674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16422" y="7646213"/>
            <a:ext cx="3201314" cy="0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886907" y="6422746"/>
            <a:ext cx="152705" cy="9363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8955634" y="7693762"/>
            <a:ext cx="3822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m/z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355994" y="7120433"/>
            <a:ext cx="66751" cy="525780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69126" y="6976872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680" dirty="0"/>
          </a:p>
        </p:txBody>
      </p:sp>
      <p:sp>
        <p:nvSpPr>
          <p:cNvPr id="127" name="Shape 125"/>
          <p:cNvSpPr/>
          <p:nvPr/>
        </p:nvSpPr>
        <p:spPr>
          <a:xfrm>
            <a:off x="6613855" y="6833311"/>
            <a:ext cx="66751" cy="811987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527902" y="6689750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129" name="Shape 127"/>
          <p:cNvSpPr/>
          <p:nvPr/>
        </p:nvSpPr>
        <p:spPr>
          <a:xfrm>
            <a:off x="6871716" y="7215530"/>
            <a:ext cx="66751" cy="429768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785762" y="7071970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</a:t>
            </a:r>
            <a:endParaRPr lang="en-US" sz="680" dirty="0"/>
          </a:p>
        </p:txBody>
      </p:sp>
      <p:sp>
        <p:nvSpPr>
          <p:cNvPr id="131" name="Shape 129"/>
          <p:cNvSpPr/>
          <p:nvPr/>
        </p:nvSpPr>
        <p:spPr>
          <a:xfrm>
            <a:off x="7129577" y="6642202"/>
            <a:ext cx="66751" cy="1003097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043623" y="6498641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680" dirty="0"/>
          </a:p>
        </p:txBody>
      </p:sp>
      <p:sp>
        <p:nvSpPr>
          <p:cNvPr id="133" name="Shape 131"/>
          <p:cNvSpPr/>
          <p:nvPr/>
        </p:nvSpPr>
        <p:spPr>
          <a:xfrm>
            <a:off x="7387438" y="7024421"/>
            <a:ext cx="66751" cy="620878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301484" y="6880860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</a:t>
            </a:r>
            <a:endParaRPr lang="en-US" sz="680" dirty="0"/>
          </a:p>
        </p:txBody>
      </p:sp>
      <p:sp>
        <p:nvSpPr>
          <p:cNvPr id="135" name="Shape 133"/>
          <p:cNvSpPr/>
          <p:nvPr/>
        </p:nvSpPr>
        <p:spPr>
          <a:xfrm>
            <a:off x="7646213" y="6766560"/>
            <a:ext cx="66751" cy="879653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560259" y="6622999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680" dirty="0"/>
          </a:p>
        </p:txBody>
      </p:sp>
      <p:sp>
        <p:nvSpPr>
          <p:cNvPr id="137" name="Shape 135"/>
          <p:cNvSpPr/>
          <p:nvPr/>
        </p:nvSpPr>
        <p:spPr>
          <a:xfrm>
            <a:off x="7904074" y="7167982"/>
            <a:ext cx="66751" cy="478231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818120" y="7024421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y9</a:t>
            </a:r>
            <a:endParaRPr lang="en-US" sz="680" dirty="0"/>
          </a:p>
        </p:txBody>
      </p:sp>
      <p:sp>
        <p:nvSpPr>
          <p:cNvPr id="139" name="Shape 137"/>
          <p:cNvSpPr/>
          <p:nvPr/>
        </p:nvSpPr>
        <p:spPr>
          <a:xfrm>
            <a:off x="8161934" y="6517843"/>
            <a:ext cx="66751" cy="1127455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075981" y="6374282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</a:t>
            </a:r>
            <a:endParaRPr lang="en-US" sz="680" dirty="0"/>
          </a:p>
        </p:txBody>
      </p:sp>
      <p:sp>
        <p:nvSpPr>
          <p:cNvPr id="141" name="Shape 139"/>
          <p:cNvSpPr/>
          <p:nvPr/>
        </p:nvSpPr>
        <p:spPr>
          <a:xfrm>
            <a:off x="8419795" y="6900062"/>
            <a:ext cx="66751" cy="745236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3842" y="6757416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</a:t>
            </a:r>
            <a:endParaRPr lang="en-US" sz="680" dirty="0"/>
          </a:p>
        </p:txBody>
      </p:sp>
      <p:sp>
        <p:nvSpPr>
          <p:cNvPr id="143" name="Shape 141"/>
          <p:cNvSpPr/>
          <p:nvPr/>
        </p:nvSpPr>
        <p:spPr>
          <a:xfrm>
            <a:off x="8677656" y="7071970"/>
            <a:ext cx="66751" cy="573329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591702" y="6929323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680" dirty="0"/>
          </a:p>
        </p:txBody>
      </p:sp>
      <p:sp>
        <p:nvSpPr>
          <p:cNvPr id="145" name="Shape 143"/>
          <p:cNvSpPr/>
          <p:nvPr/>
        </p:nvSpPr>
        <p:spPr>
          <a:xfrm>
            <a:off x="8936431" y="6708953"/>
            <a:ext cx="66751" cy="936346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850478" y="6566306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680" dirty="0"/>
          </a:p>
        </p:txBody>
      </p:sp>
      <p:sp>
        <p:nvSpPr>
          <p:cNvPr id="147" name="Shape 145"/>
          <p:cNvSpPr/>
          <p:nvPr/>
        </p:nvSpPr>
        <p:spPr>
          <a:xfrm>
            <a:off x="9194292" y="7263994"/>
            <a:ext cx="66751" cy="382219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108338" y="7120433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b9</a:t>
            </a:r>
            <a:endParaRPr lang="en-US" sz="680" dirty="0"/>
          </a:p>
        </p:txBody>
      </p:sp>
      <p:sp>
        <p:nvSpPr>
          <p:cNvPr id="149" name="Text 147"/>
          <p:cNvSpPr/>
          <p:nvPr/>
        </p:nvSpPr>
        <p:spPr>
          <a:xfrm>
            <a:off x="6068873" y="7932420"/>
            <a:ext cx="2867558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potential fragment information,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coverage propensity ✅</a:t>
            </a:r>
            <a:endParaRPr lang="en-US" sz="980" dirty="0"/>
          </a:p>
        </p:txBody>
      </p:sp>
      <p:sp>
        <p:nvSpPr>
          <p:cNvPr id="150" name="Shape 148"/>
          <p:cNvSpPr/>
          <p:nvPr/>
        </p:nvSpPr>
        <p:spPr>
          <a:xfrm>
            <a:off x="9652406" y="4731106"/>
            <a:ext cx="3727094" cy="573329"/>
          </a:xfrm>
          <a:prstGeom prst="rect">
            <a:avLst/>
          </a:prstGeom>
          <a:solidFill>
            <a:srgbClr val="F5CBCB"/>
          </a:solidFill>
          <a:ln w="14336">
            <a:solidFill>
              <a:srgbClr val="C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652406" y="4731106"/>
            <a:ext cx="3727094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Fragmentation (Lower Coverage Propensity)</a:t>
            </a:r>
            <a:endParaRPr lang="en-US" sz="102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predicted cleavage sites,</a:t>
            </a:r>
            <a:endParaRPr lang="en-US" sz="102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potential fragment information</a:t>
            </a:r>
            <a:endParaRPr lang="en-US" sz="1020" dirty="0"/>
          </a:p>
        </p:txBody>
      </p:sp>
      <p:sp>
        <p:nvSpPr>
          <p:cNvPr id="152" name="Shape 150"/>
          <p:cNvSpPr/>
          <p:nvPr/>
        </p:nvSpPr>
        <p:spPr>
          <a:xfrm>
            <a:off x="9652406" y="5304434"/>
            <a:ext cx="3727094" cy="3010205"/>
          </a:xfrm>
          <a:prstGeom prst="rect">
            <a:avLst/>
          </a:prstGeom>
          <a:solidFill>
            <a:srgbClr val="FFFFFF"/>
          </a:solidFill>
          <a:ln w="14336">
            <a:solidFill>
              <a:srgbClr val="C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786823" y="552389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H—</a:t>
            </a:r>
            <a:endParaRPr lang="en-US" sz="870" dirty="0"/>
          </a:p>
        </p:txBody>
      </p:sp>
      <p:sp>
        <p:nvSpPr>
          <p:cNvPr id="154" name="Shape 152"/>
          <p:cNvSpPr/>
          <p:nvPr/>
        </p:nvSpPr>
        <p:spPr>
          <a:xfrm>
            <a:off x="10083089" y="5600700"/>
            <a:ext cx="1987906" cy="0"/>
          </a:xfrm>
          <a:prstGeom prst="line">
            <a:avLst/>
          </a:prstGeom>
          <a:noFill/>
          <a:ln w="11469">
            <a:solidFill>
              <a:srgbClr val="99999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97135" y="5371186"/>
            <a:ext cx="229514" cy="229514"/>
          </a:xfrm>
          <a:prstGeom prst="ellipse">
            <a:avLst/>
          </a:prstGeom>
          <a:solidFill>
            <a:srgbClr val="9DC3E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111435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0283342" y="5371186"/>
            <a:ext cx="229514" cy="229514"/>
          </a:xfrm>
          <a:prstGeom prst="ellipse">
            <a:avLst/>
          </a:prstGeom>
          <a:solidFill>
            <a:srgbClr val="E066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398557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0570464" y="5371186"/>
            <a:ext cx="229514" cy="229514"/>
          </a:xfrm>
          <a:prstGeom prst="ellipse">
            <a:avLst/>
          </a:prstGeom>
          <a:solidFill>
            <a:srgbClr val="F6B26B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684764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10856671" y="5371186"/>
            <a:ext cx="229514" cy="229514"/>
          </a:xfrm>
          <a:prstGeom prst="ellipse">
            <a:avLst/>
          </a:prstGeom>
          <a:solidFill>
            <a:srgbClr val="FFD96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971886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11143793" y="5371186"/>
            <a:ext cx="229514" cy="229514"/>
          </a:xfrm>
          <a:prstGeom prst="ellipse">
            <a:avLst/>
          </a:prstGeom>
          <a:solidFill>
            <a:srgbClr val="93C47D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258093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11430914" y="5371186"/>
            <a:ext cx="229514" cy="229514"/>
          </a:xfrm>
          <a:prstGeom prst="ellipse">
            <a:avLst/>
          </a:prstGeom>
          <a:solidFill>
            <a:srgbClr val="B4A7D6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545214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11717122" y="5371186"/>
            <a:ext cx="229514" cy="229514"/>
          </a:xfrm>
          <a:prstGeom prst="ellipse">
            <a:avLst/>
          </a:prstGeom>
          <a:solidFill>
            <a:srgbClr val="76C7C0"/>
          </a:solidFill>
          <a:ln w="7646">
            <a:solidFill>
              <a:srgbClr val="66666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832336" y="5485486"/>
            <a:ext cx="2295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10637215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>
            <a:off x="11497666" y="5447995"/>
            <a:ext cx="0" cy="305410"/>
          </a:xfrm>
          <a:prstGeom prst="line">
            <a:avLst/>
          </a:prstGeom>
          <a:noFill/>
          <a:ln w="14336">
            <a:solidFill>
              <a:srgbClr val="C00000"/>
            </a:solidFill>
            <a:prstDash val="dash"/>
          </a:ln>
        </p:spPr>
      </p:sp>
      <p:sp>
        <p:nvSpPr>
          <p:cNvPr id="171" name="Text 169"/>
          <p:cNvSpPr/>
          <p:nvPr/>
        </p:nvSpPr>
        <p:spPr>
          <a:xfrm>
            <a:off x="11965838" y="5523890"/>
            <a:ext cx="5733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—···</a:t>
            </a:r>
            <a:endParaRPr lang="en-US" sz="870" dirty="0"/>
          </a:p>
        </p:txBody>
      </p:sp>
      <p:sp>
        <p:nvSpPr>
          <p:cNvPr id="172" name="Text 170"/>
          <p:cNvSpPr/>
          <p:nvPr/>
        </p:nvSpPr>
        <p:spPr>
          <a:xfrm>
            <a:off x="9652406" y="5811012"/>
            <a:ext cx="37270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b/y ions: sparse</a:t>
            </a:r>
            <a:endParaRPr lang="en-US" sz="940" dirty="0"/>
          </a:p>
        </p:txBody>
      </p:sp>
      <p:sp>
        <p:nvSpPr>
          <p:cNvPr id="173" name="Shape 171"/>
          <p:cNvSpPr/>
          <p:nvPr/>
        </p:nvSpPr>
        <p:spPr>
          <a:xfrm>
            <a:off x="10016338" y="6135624"/>
            <a:ext cx="0" cy="1509674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016338" y="7646213"/>
            <a:ext cx="3153766" cy="0"/>
          </a:xfrm>
          <a:prstGeom prst="line">
            <a:avLst/>
          </a:prstGeom>
          <a:noFill/>
          <a:ln w="11469">
            <a:solidFill>
              <a:srgbClr val="333333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786823" y="6422746"/>
            <a:ext cx="152705" cy="9363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12807086" y="7693762"/>
            <a:ext cx="3822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m/z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10254996" y="7071970"/>
            <a:ext cx="76810" cy="573329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169042" y="6929323"/>
            <a:ext cx="248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y7</a:t>
            </a:r>
            <a:endParaRPr lang="en-US" sz="680" dirty="0"/>
          </a:p>
        </p:txBody>
      </p:sp>
      <p:sp>
        <p:nvSpPr>
          <p:cNvPr id="179" name="Shape 177"/>
          <p:cNvSpPr/>
          <p:nvPr/>
        </p:nvSpPr>
        <p:spPr>
          <a:xfrm>
            <a:off x="10924337" y="6785762"/>
            <a:ext cx="76810" cy="860450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838383" y="6642202"/>
            <a:ext cx="248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680" dirty="0"/>
          </a:p>
        </p:txBody>
      </p:sp>
      <p:sp>
        <p:nvSpPr>
          <p:cNvPr id="181" name="Shape 179"/>
          <p:cNvSpPr/>
          <p:nvPr/>
        </p:nvSpPr>
        <p:spPr>
          <a:xfrm>
            <a:off x="11592763" y="7167982"/>
            <a:ext cx="76810" cy="478231"/>
          </a:xfrm>
          <a:prstGeom prst="rect">
            <a:avLst/>
          </a:prstGeom>
          <a:solidFill>
            <a:srgbClr val="4472C4"/>
          </a:solidFill>
          <a:ln w="4779">
            <a:solidFill>
              <a:srgbClr val="4472C4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1506810" y="7024421"/>
            <a:ext cx="248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680" dirty="0"/>
          </a:p>
        </p:txBody>
      </p:sp>
      <p:sp>
        <p:nvSpPr>
          <p:cNvPr id="183" name="Shape 181"/>
          <p:cNvSpPr/>
          <p:nvPr/>
        </p:nvSpPr>
        <p:spPr>
          <a:xfrm>
            <a:off x="12262104" y="6594653"/>
            <a:ext cx="76810" cy="1051560"/>
          </a:xfrm>
          <a:prstGeom prst="rect">
            <a:avLst/>
          </a:prstGeom>
          <a:solidFill>
            <a:srgbClr val="C00000"/>
          </a:solidFill>
          <a:ln w="4779">
            <a:solidFill>
              <a:srgbClr val="C0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2176150" y="6451092"/>
            <a:ext cx="248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</a:t>
            </a:r>
            <a:endParaRPr lang="en-US" sz="680" dirty="0"/>
          </a:p>
        </p:txBody>
      </p:sp>
      <p:sp>
        <p:nvSpPr>
          <p:cNvPr id="185" name="Text 183"/>
          <p:cNvSpPr/>
          <p:nvPr/>
        </p:nvSpPr>
        <p:spPr>
          <a:xfrm>
            <a:off x="9987077" y="7932420"/>
            <a:ext cx="3058668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potential fragment information,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coverage propensity ❌</a:t>
            </a:r>
            <a:endParaRPr lang="en-US" sz="980" dirty="0"/>
          </a:p>
        </p:txBody>
      </p:sp>
      <p:sp>
        <p:nvSpPr>
          <p:cNvPr id="186" name="Shape 184"/>
          <p:cNvSpPr/>
          <p:nvPr/>
        </p:nvSpPr>
        <p:spPr>
          <a:xfrm flipH="1">
            <a:off x="5351983" y="3344875"/>
            <a:ext cx="3153766" cy="1146658"/>
          </a:xfrm>
          <a:prstGeom prst="line">
            <a:avLst/>
          </a:prstGeom>
          <a:noFill/>
          <a:ln w="12424">
            <a:solidFill>
              <a:srgbClr val="7F7F7F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11086186" y="3344875"/>
            <a:ext cx="2485339" cy="1146658"/>
          </a:xfrm>
          <a:prstGeom prst="line">
            <a:avLst/>
          </a:prstGeom>
          <a:noFill/>
          <a:ln w="12424">
            <a:solidFill>
              <a:srgbClr val="7F7F7F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>
            <a:off x="2599639" y="1815998"/>
            <a:ext cx="334670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>
            <a:off x="5275174" y="1815998"/>
            <a:ext cx="334670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8142732" y="1815998"/>
            <a:ext cx="334670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1" name="Shape 189"/>
          <p:cNvSpPr/>
          <p:nvPr/>
        </p:nvSpPr>
        <p:spPr>
          <a:xfrm>
            <a:off x="11105388" y="1815998"/>
            <a:ext cx="334670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13876934" y="1815998"/>
            <a:ext cx="334670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>
            <a:off x="15387523" y="3268980"/>
            <a:ext cx="0" cy="1185062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H="1">
            <a:off x="13629132" y="5925312"/>
            <a:ext cx="592531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H="1">
            <a:off x="4931359" y="5925312"/>
            <a:ext cx="420624" cy="0"/>
          </a:xfrm>
          <a:prstGeom prst="line">
            <a:avLst/>
          </a:prstGeom>
          <a:noFill/>
          <a:ln w="1911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V="1">
            <a:off x="1433779" y="3287268"/>
            <a:ext cx="0" cy="1663294"/>
          </a:xfrm>
          <a:prstGeom prst="line">
            <a:avLst/>
          </a:prstGeom>
          <a:noFill/>
          <a:ln w="14336">
            <a:solidFill>
              <a:srgbClr val="555555"/>
            </a:solidFill>
            <a:prstDash val="dash"/>
            <a:tailEnd type="triangle"/>
          </a:ln>
        </p:spPr>
      </p:sp>
      <p:sp>
        <p:nvSpPr>
          <p:cNvPr id="197" name="Shape 195"/>
          <p:cNvSpPr/>
          <p:nvPr/>
        </p:nvSpPr>
        <p:spPr>
          <a:xfrm flipH="1">
            <a:off x="2189074" y="5925312"/>
            <a:ext cx="373075" cy="0"/>
          </a:xfrm>
          <a:prstGeom prst="line">
            <a:avLst/>
          </a:prstGeom>
          <a:noFill/>
          <a:ln w="14336">
            <a:solidFill>
              <a:srgbClr val="555555"/>
            </a:solidFill>
            <a:prstDash val="dash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DBond</dc:creator>
  <cp:lastModifiedBy>DBond</cp:lastModifiedBy>
  <cp:revision>1</cp:revision>
  <dcterms:created xsi:type="dcterms:W3CDTF">2026-10-13T07:42:07Z</dcterms:created>
  <dcterms:modified xsi:type="dcterms:W3CDTF">2026-10-13T07:42:07Z</dcterms:modified>
</cp:coreProperties>
</file>