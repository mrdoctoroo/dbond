
<file path=[Content_Types].xml><?xml version="1.0" encoding="utf-8"?>
<Types xmlns="http://schemas.openxmlformats.org/package/2006/content-types"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"/>
  </p:notesMasterIdLst>
  <p:sldIdLst>
    <p:sldId id="256" r:id="rId2"/>
  </p:sldIdLst>
  <p:sldSz cx="16916400" cy="8888413"/>
  <p:notesSz cx="8888413" cy="169164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19" d="100"/>
          <a:sy n="119" d="100"/>
        </p:scale>
        <p:origin x="92" y="24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notesMaster" Target="notesMasters/notesMaster1.xml"/><Relationship Id="rId7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heme" Target="theme/theme1.xml"/><Relationship Id="rId5" Type="http://schemas.openxmlformats.org/officeDocument/2006/relationships/viewProps" Target="viewProps.xml"/><Relationship Id="rId4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245902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sv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287122" y="382219"/>
            <a:ext cx="2293315" cy="2867558"/>
          </a:xfrm>
          <a:prstGeom prst="rect">
            <a:avLst/>
          </a:prstGeom>
          <a:solidFill>
            <a:srgbClr val="FFFFFF"/>
          </a:solidFill>
          <a:ln w="19115">
            <a:solidFill>
              <a:srgbClr val="1E6BB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" name="Shape 1"/>
          <p:cNvSpPr/>
          <p:nvPr/>
        </p:nvSpPr>
        <p:spPr>
          <a:xfrm>
            <a:off x="287122" y="382219"/>
            <a:ext cx="2293315" cy="382219"/>
          </a:xfrm>
          <a:prstGeom prst="rect">
            <a:avLst/>
          </a:prstGeom>
          <a:solidFill>
            <a:srgbClr val="1E6BB8"/>
          </a:solidFill>
          <a:ln w="9557">
            <a:solidFill>
              <a:srgbClr val="1E6BB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" name="Text 2"/>
          <p:cNvSpPr/>
          <p:nvPr/>
        </p:nvSpPr>
        <p:spPr>
          <a:xfrm>
            <a:off x="287122" y="382219"/>
            <a:ext cx="229331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1  Raw Binary Data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287122" y="1003097"/>
            <a:ext cx="2293315" cy="100309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01010110</a:t>
            </a:r>
            <a:endParaRPr lang="en-US" sz="1130" dirty="0"/>
          </a:p>
          <a:p>
            <a:pPr marL="0" indent="0" algn="ctr">
              <a:buNone/>
            </a:pPr>
            <a:r>
              <a:rPr lang="en-US" sz="113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10110101</a:t>
            </a:r>
            <a:endParaRPr lang="en-US" sz="1130" dirty="0"/>
          </a:p>
          <a:p>
            <a:pPr marL="0" indent="0" algn="ctr">
              <a:buNone/>
            </a:pPr>
            <a:r>
              <a:rPr lang="en-US" sz="113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01011011</a:t>
            </a:r>
            <a:endParaRPr lang="en-US" sz="1130" dirty="0"/>
          </a:p>
          <a:p>
            <a:pPr marL="0" indent="0" algn="ctr">
              <a:buNone/>
            </a:pPr>
            <a:r>
              <a:rPr lang="en-US" sz="113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lang="en-US" sz="1130" dirty="0"/>
          </a:p>
        </p:txBody>
      </p:sp>
      <p:sp>
        <p:nvSpPr>
          <p:cNvPr id="6" name="Text 4"/>
          <p:cNvSpPr/>
          <p:nvPr/>
        </p:nvSpPr>
        <p:spPr>
          <a:xfrm>
            <a:off x="287122" y="2561234"/>
            <a:ext cx="2293315" cy="4782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Arbitrary binary files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(text, images, videos, etc.)</a:t>
            </a:r>
            <a:endParaRPr lang="en-US" sz="940" dirty="0"/>
          </a:p>
        </p:txBody>
      </p:sp>
      <p:sp>
        <p:nvSpPr>
          <p:cNvPr id="7" name="Shape 5"/>
          <p:cNvSpPr/>
          <p:nvPr/>
        </p:nvSpPr>
        <p:spPr>
          <a:xfrm>
            <a:off x="2962656" y="382219"/>
            <a:ext cx="2293315" cy="2867558"/>
          </a:xfrm>
          <a:prstGeom prst="rect">
            <a:avLst/>
          </a:prstGeom>
          <a:solidFill>
            <a:srgbClr val="FFFFFF"/>
          </a:solidFill>
          <a:ln w="19115">
            <a:solidFill>
              <a:srgbClr val="4F7F3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" name="Shape 6"/>
          <p:cNvSpPr/>
          <p:nvPr/>
        </p:nvSpPr>
        <p:spPr>
          <a:xfrm>
            <a:off x="2962656" y="382219"/>
            <a:ext cx="2293315" cy="382219"/>
          </a:xfrm>
          <a:prstGeom prst="rect">
            <a:avLst/>
          </a:prstGeom>
          <a:solidFill>
            <a:srgbClr val="4F7F3A"/>
          </a:solidFill>
          <a:ln w="9557">
            <a:solidFill>
              <a:srgbClr val="4F7F3A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" name="Text 7"/>
          <p:cNvSpPr/>
          <p:nvPr/>
        </p:nvSpPr>
        <p:spPr>
          <a:xfrm>
            <a:off x="2962656" y="382219"/>
            <a:ext cx="229331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2  Encoding Mapping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2962656" y="907999"/>
            <a:ext cx="2293315" cy="181599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Binary → Amino Acid</a:t>
            </a:r>
            <a:endParaRPr lang="en-US" sz="1020" dirty="0"/>
          </a:p>
          <a:p>
            <a:pPr marL="0" indent="0" algn="ctr">
              <a:buNone/>
            </a:pPr>
            <a:r>
              <a:rPr lang="en-US" sz="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00  →  A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01  →  R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10  →  N</a:t>
            </a:r>
            <a:endParaRPr lang="en-US" sz="1020" dirty="0"/>
          </a:p>
          <a:p>
            <a:pPr marL="0" indent="0" algn="ctr">
              <a:buNone/>
            </a:pPr>
            <a:r>
              <a:rPr lang="en-US" sz="1020" dirty="0">
                <a:solidFill>
                  <a:srgbClr val="1A1A1A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 11  →  D</a:t>
            </a:r>
            <a:endParaRPr lang="en-US" sz="1020" dirty="0"/>
          </a:p>
          <a:p>
            <a:pPr marL="0" indent="0" algn="ctr">
              <a:buNone/>
            </a:pPr>
            <a:r>
              <a:rPr lang="en-US" sz="4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1020" dirty="0"/>
          </a:p>
          <a:p>
            <a:pPr marL="0" indent="0" algn="ctr">
              <a:buNone/>
            </a:pPr>
            <a:r>
              <a:rPr lang="en-US" sz="10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⋮</a:t>
            </a:r>
            <a:endParaRPr lang="en-US" sz="1020" dirty="0"/>
          </a:p>
        </p:txBody>
      </p:sp>
      <p:sp>
        <p:nvSpPr>
          <p:cNvPr id="11" name="Shape 9"/>
          <p:cNvSpPr/>
          <p:nvPr/>
        </p:nvSpPr>
        <p:spPr>
          <a:xfrm>
            <a:off x="5639105" y="382219"/>
            <a:ext cx="2485339" cy="2867558"/>
          </a:xfrm>
          <a:prstGeom prst="rect">
            <a:avLst/>
          </a:prstGeom>
          <a:solidFill>
            <a:srgbClr val="FFFFFF"/>
          </a:solidFill>
          <a:ln w="19115">
            <a:solidFill>
              <a:srgbClr val="4E9A4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" name="Shape 10"/>
          <p:cNvSpPr/>
          <p:nvPr/>
        </p:nvSpPr>
        <p:spPr>
          <a:xfrm>
            <a:off x="5639105" y="382219"/>
            <a:ext cx="2485339" cy="420624"/>
          </a:xfrm>
          <a:prstGeom prst="rect">
            <a:avLst/>
          </a:prstGeom>
          <a:solidFill>
            <a:srgbClr val="4E9A47"/>
          </a:solidFill>
          <a:ln w="9557">
            <a:solidFill>
              <a:srgbClr val="4E9A47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" name="Text 11"/>
          <p:cNvSpPr/>
          <p:nvPr/>
        </p:nvSpPr>
        <p:spPr>
          <a:xfrm>
            <a:off x="5639105" y="382219"/>
            <a:ext cx="2485339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3  Candidate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Peptide Sequences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5639105" y="879653"/>
            <a:ext cx="2485339" cy="12426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 1: H-Lys-Ala-Arg-Gly-...</a:t>
            </a:r>
            <a:endParaRPr lang="en-US" sz="940" dirty="0"/>
          </a:p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 2: H-Gly-Asn-Leu-Tyr-...</a:t>
            </a:r>
            <a:endParaRPr lang="en-US" sz="940" dirty="0"/>
          </a:p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 3: H-Arg-Val-Asn-Ala-...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···</a:t>
            </a:r>
            <a:endParaRPr lang="en-US" sz="940" dirty="0"/>
          </a:p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Seq N: H-Leu-Gly-Lys-Val-...</a:t>
            </a:r>
            <a:endParaRPr lang="en-US" sz="940" dirty="0"/>
          </a:p>
        </p:txBody>
      </p:sp>
      <p:sp>
        <p:nvSpPr>
          <p:cNvPr id="15" name="Shape 13"/>
          <p:cNvSpPr/>
          <p:nvPr/>
        </p:nvSpPr>
        <p:spPr>
          <a:xfrm>
            <a:off x="5877763" y="2752344"/>
            <a:ext cx="2179015" cy="0"/>
          </a:xfrm>
          <a:prstGeom prst="line">
            <a:avLst/>
          </a:prstGeom>
          <a:noFill/>
          <a:ln w="11469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" name="Shape 14"/>
          <p:cNvSpPr/>
          <p:nvPr/>
        </p:nvSpPr>
        <p:spPr>
          <a:xfrm>
            <a:off x="5830214" y="2599639"/>
            <a:ext cx="152705" cy="152705"/>
          </a:xfrm>
          <a:prstGeom prst="ellipse">
            <a:avLst/>
          </a:prstGeom>
          <a:solidFill>
            <a:srgbClr val="9DC3E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" name="Shape 15"/>
          <p:cNvSpPr/>
          <p:nvPr/>
        </p:nvSpPr>
        <p:spPr>
          <a:xfrm>
            <a:off x="6078017" y="2599639"/>
            <a:ext cx="152705" cy="152705"/>
          </a:xfrm>
          <a:prstGeom prst="ellipse">
            <a:avLst/>
          </a:prstGeom>
          <a:solidFill>
            <a:srgbClr val="E0666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" name="Shape 16"/>
          <p:cNvSpPr/>
          <p:nvPr/>
        </p:nvSpPr>
        <p:spPr>
          <a:xfrm>
            <a:off x="6326734" y="2599639"/>
            <a:ext cx="152705" cy="152705"/>
          </a:xfrm>
          <a:prstGeom prst="ellipse">
            <a:avLst/>
          </a:prstGeom>
          <a:solidFill>
            <a:srgbClr val="F6B26B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" name="Shape 17"/>
          <p:cNvSpPr/>
          <p:nvPr/>
        </p:nvSpPr>
        <p:spPr>
          <a:xfrm>
            <a:off x="6575450" y="2599639"/>
            <a:ext cx="152705" cy="152705"/>
          </a:xfrm>
          <a:prstGeom prst="ellipse">
            <a:avLst/>
          </a:prstGeom>
          <a:solidFill>
            <a:srgbClr val="FFD96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0" name="Shape 18"/>
          <p:cNvSpPr/>
          <p:nvPr/>
        </p:nvSpPr>
        <p:spPr>
          <a:xfrm>
            <a:off x="6824167" y="2599639"/>
            <a:ext cx="152705" cy="152705"/>
          </a:xfrm>
          <a:prstGeom prst="ellipse">
            <a:avLst/>
          </a:prstGeom>
          <a:solidFill>
            <a:srgbClr val="93C47D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1" name="Shape 19"/>
          <p:cNvSpPr/>
          <p:nvPr/>
        </p:nvSpPr>
        <p:spPr>
          <a:xfrm>
            <a:off x="7071970" y="2599639"/>
            <a:ext cx="152705" cy="152705"/>
          </a:xfrm>
          <a:prstGeom prst="ellipse">
            <a:avLst/>
          </a:prstGeom>
          <a:solidFill>
            <a:srgbClr val="B4A7D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2" name="Shape 20"/>
          <p:cNvSpPr/>
          <p:nvPr/>
        </p:nvSpPr>
        <p:spPr>
          <a:xfrm>
            <a:off x="7320686" y="2599639"/>
            <a:ext cx="152705" cy="152705"/>
          </a:xfrm>
          <a:prstGeom prst="ellipse">
            <a:avLst/>
          </a:prstGeom>
          <a:solidFill>
            <a:srgbClr val="76C7C0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3" name="Shape 21"/>
          <p:cNvSpPr/>
          <p:nvPr/>
        </p:nvSpPr>
        <p:spPr>
          <a:xfrm>
            <a:off x="7569403" y="2599639"/>
            <a:ext cx="152705" cy="152705"/>
          </a:xfrm>
          <a:prstGeom prst="ellipse">
            <a:avLst/>
          </a:prstGeom>
          <a:solidFill>
            <a:srgbClr val="D5A6BD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4" name="Shape 22"/>
          <p:cNvSpPr/>
          <p:nvPr/>
        </p:nvSpPr>
        <p:spPr>
          <a:xfrm>
            <a:off x="7818120" y="2599639"/>
            <a:ext cx="152705" cy="152705"/>
          </a:xfrm>
          <a:prstGeom prst="ellipse">
            <a:avLst/>
          </a:prstGeom>
          <a:solidFill>
            <a:srgbClr val="9DC3E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5" name="Shape 23"/>
          <p:cNvSpPr/>
          <p:nvPr/>
        </p:nvSpPr>
        <p:spPr>
          <a:xfrm>
            <a:off x="8505749" y="287122"/>
            <a:ext cx="2580437" cy="3058668"/>
          </a:xfrm>
          <a:prstGeom prst="rect">
            <a:avLst/>
          </a:prstGeom>
          <a:solidFill>
            <a:srgbClr val="FFFFFF"/>
          </a:solidFill>
          <a:ln w="19115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6" name="Shape 24"/>
          <p:cNvSpPr/>
          <p:nvPr/>
        </p:nvSpPr>
        <p:spPr>
          <a:xfrm>
            <a:off x="8505749" y="287122"/>
            <a:ext cx="2580437" cy="583387"/>
          </a:xfrm>
          <a:prstGeom prst="rect">
            <a:avLst/>
          </a:prstGeom>
          <a:solidFill>
            <a:srgbClr val="C00000"/>
          </a:solidFill>
          <a:ln w="9557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7" name="Text 25"/>
          <p:cNvSpPr/>
          <p:nvPr/>
        </p:nvSpPr>
        <p:spPr>
          <a:xfrm>
            <a:off x="8505749" y="287122"/>
            <a:ext cx="2580437" cy="583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4  Peptide Bond</a:t>
            </a:r>
            <a:endParaRPr lang="en-US" sz="980" dirty="0"/>
          </a:p>
          <a:p>
            <a:pPr marL="0" indent="0" algn="ctr">
              <a:buNone/>
            </a:pPr>
            <a:r>
              <a:rPr lang="en-US" sz="9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Cleavage Prediction</a:t>
            </a:r>
            <a:endParaRPr lang="en-US" sz="980" dirty="0"/>
          </a:p>
          <a:p>
            <a:pPr marL="0" indent="0" algn="ctr">
              <a:buNone/>
            </a:pPr>
            <a:r>
              <a:rPr lang="en-US" sz="98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(Critical Step)</a:t>
            </a:r>
            <a:endParaRPr lang="en-US" sz="980" dirty="0"/>
          </a:p>
        </p:txBody>
      </p:sp>
      <p:sp>
        <p:nvSpPr>
          <p:cNvPr id="28" name="Shape 26"/>
          <p:cNvSpPr/>
          <p:nvPr/>
        </p:nvSpPr>
        <p:spPr>
          <a:xfrm>
            <a:off x="9127541" y="1242670"/>
            <a:ext cx="1337767" cy="907999"/>
          </a:xfrm>
          <a:prstGeom prst="rect">
            <a:avLst/>
          </a:prstGeom>
          <a:solidFill>
            <a:srgbClr val="FFFFFF"/>
          </a:solidFill>
          <a:ln w="19115">
            <a:solidFill>
              <a:srgbClr val="3B3B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29" name="Shape 27"/>
          <p:cNvSpPr/>
          <p:nvPr/>
        </p:nvSpPr>
        <p:spPr>
          <a:xfrm>
            <a:off x="9318650" y="1805940"/>
            <a:ext cx="57607" cy="267919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0" name="Shape 28"/>
          <p:cNvSpPr/>
          <p:nvPr/>
        </p:nvSpPr>
        <p:spPr>
          <a:xfrm>
            <a:off x="9443009" y="1614830"/>
            <a:ext cx="57607" cy="459029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1" name="Shape 29"/>
          <p:cNvSpPr/>
          <p:nvPr/>
        </p:nvSpPr>
        <p:spPr>
          <a:xfrm>
            <a:off x="9566453" y="1710842"/>
            <a:ext cx="57607" cy="363017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2" name="Shape 30"/>
          <p:cNvSpPr/>
          <p:nvPr/>
        </p:nvSpPr>
        <p:spPr>
          <a:xfrm>
            <a:off x="9690811" y="1481328"/>
            <a:ext cx="57607" cy="592531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3" name="Shape 31"/>
          <p:cNvSpPr/>
          <p:nvPr/>
        </p:nvSpPr>
        <p:spPr>
          <a:xfrm>
            <a:off x="9815170" y="1577340"/>
            <a:ext cx="57607" cy="497434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4" name="Shape 32"/>
          <p:cNvSpPr/>
          <p:nvPr/>
        </p:nvSpPr>
        <p:spPr>
          <a:xfrm>
            <a:off x="9939528" y="1386230"/>
            <a:ext cx="57607" cy="688543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5" name="Shape 33"/>
          <p:cNvSpPr/>
          <p:nvPr/>
        </p:nvSpPr>
        <p:spPr>
          <a:xfrm>
            <a:off x="10063886" y="1672438"/>
            <a:ext cx="57607" cy="401422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6" name="Shape 34"/>
          <p:cNvSpPr/>
          <p:nvPr/>
        </p:nvSpPr>
        <p:spPr>
          <a:xfrm>
            <a:off x="10188245" y="1519733"/>
            <a:ext cx="57607" cy="554126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7" name="Shape 35"/>
          <p:cNvSpPr/>
          <p:nvPr/>
        </p:nvSpPr>
        <p:spPr>
          <a:xfrm>
            <a:off x="10312603" y="1768450"/>
            <a:ext cx="57607" cy="305410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8" name="Shape 36"/>
          <p:cNvSpPr/>
          <p:nvPr/>
        </p:nvSpPr>
        <p:spPr>
          <a:xfrm>
            <a:off x="9729216" y="2150669"/>
            <a:ext cx="114300" cy="114300"/>
          </a:xfrm>
          <a:prstGeom prst="rect">
            <a:avLst/>
          </a:prstGeom>
          <a:solidFill>
            <a:srgbClr val="3B3B3B"/>
          </a:solidFill>
          <a:ln w="9557">
            <a:solidFill>
              <a:srgbClr val="3B3B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39" name="Shape 37"/>
          <p:cNvSpPr/>
          <p:nvPr/>
        </p:nvSpPr>
        <p:spPr>
          <a:xfrm>
            <a:off x="9490558" y="2264969"/>
            <a:ext cx="592531" cy="57607"/>
          </a:xfrm>
          <a:prstGeom prst="roundRect">
            <a:avLst>
              <a:gd name="adj" fmla="val 33333"/>
            </a:avLst>
          </a:prstGeom>
          <a:solidFill>
            <a:srgbClr val="3B3B3B"/>
          </a:solidFill>
          <a:ln w="9557">
            <a:solidFill>
              <a:srgbClr val="3B3B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0" name="Text 38"/>
          <p:cNvSpPr/>
          <p:nvPr/>
        </p:nvSpPr>
        <p:spPr>
          <a:xfrm>
            <a:off x="8505749" y="2503627"/>
            <a:ext cx="2580437" cy="6309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Predict peptide bond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cleavage probabilities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theoretical spectra</a:t>
            </a:r>
            <a:endParaRPr lang="en-US" sz="940" dirty="0"/>
          </a:p>
        </p:txBody>
      </p:sp>
      <p:sp>
        <p:nvSpPr>
          <p:cNvPr id="41" name="Shape 39"/>
          <p:cNvSpPr/>
          <p:nvPr/>
        </p:nvSpPr>
        <p:spPr>
          <a:xfrm>
            <a:off x="11468405" y="382219"/>
            <a:ext cx="2389327" cy="2867558"/>
          </a:xfrm>
          <a:prstGeom prst="rect">
            <a:avLst/>
          </a:prstGeom>
          <a:solidFill>
            <a:srgbClr val="FFFFFF"/>
          </a:solidFill>
          <a:ln w="19115">
            <a:solidFill>
              <a:srgbClr val="BF9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2" name="Shape 40"/>
          <p:cNvSpPr/>
          <p:nvPr/>
        </p:nvSpPr>
        <p:spPr>
          <a:xfrm>
            <a:off x="11468405" y="382219"/>
            <a:ext cx="2389327" cy="420624"/>
          </a:xfrm>
          <a:prstGeom prst="rect">
            <a:avLst/>
          </a:prstGeom>
          <a:solidFill>
            <a:srgbClr val="BF9000"/>
          </a:solidFill>
          <a:ln w="9557">
            <a:solidFill>
              <a:srgbClr val="BF9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3" name="Text 41"/>
          <p:cNvSpPr/>
          <p:nvPr/>
        </p:nvSpPr>
        <p:spPr>
          <a:xfrm>
            <a:off x="11468405" y="382219"/>
            <a:ext cx="2389327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5  Optimal Sequence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Selection</a:t>
            </a:r>
            <a:endParaRPr lang="en-US" sz="1050" dirty="0"/>
          </a:p>
        </p:txBody>
      </p:sp>
      <p:sp>
        <p:nvSpPr>
          <p:cNvPr id="44" name="Text 42"/>
          <p:cNvSpPr/>
          <p:nvPr/>
        </p:nvSpPr>
        <p:spPr>
          <a:xfrm>
            <a:off x="11611966" y="907999"/>
            <a:ext cx="2102206" cy="15773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Evaluation Metrics</a:t>
            </a:r>
            <a:endParaRPr lang="en-US" sz="980" dirty="0"/>
          </a:p>
          <a:p>
            <a:pPr marL="0" indent="0" algn="l">
              <a:buNone/>
            </a:pPr>
            <a:r>
              <a:rPr lang="en-US" sz="53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</a:t>
            </a:r>
            <a:endParaRPr lang="en-US" sz="980" dirty="0"/>
          </a:p>
          <a:p>
            <a:pPr marL="0" indent="0" algn="l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High cleavage yield</a:t>
            </a:r>
            <a:endParaRPr lang="en-US" sz="980" dirty="0"/>
          </a:p>
          <a:p>
            <a:pPr marL="0" indent="0" algn="l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(predictability)</a:t>
            </a:r>
            <a:endParaRPr lang="en-US" sz="980" dirty="0"/>
          </a:p>
          <a:p>
            <a:pPr marL="0" indent="0" algn="l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Sequence stability</a:t>
            </a:r>
            <a:endParaRPr lang="en-US" sz="980" dirty="0"/>
          </a:p>
          <a:p>
            <a:pPr marL="0" indent="0" algn="l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Chemical synthesizability</a:t>
            </a:r>
            <a:endParaRPr lang="en-US" sz="980" dirty="0"/>
          </a:p>
          <a:p>
            <a:pPr marL="0" indent="0" algn="l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✔ Length constraint</a:t>
            </a:r>
            <a:endParaRPr lang="en-US" sz="980" dirty="0"/>
          </a:p>
          <a:p>
            <a:pPr marL="0" indent="0" algn="l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···</a:t>
            </a:r>
            <a:endParaRPr lang="en-US" sz="980" dirty="0"/>
          </a:p>
        </p:txBody>
      </p:sp>
      <p:sp>
        <p:nvSpPr>
          <p:cNvPr id="45" name="Text 43"/>
          <p:cNvSpPr/>
          <p:nvPr/>
        </p:nvSpPr>
        <p:spPr>
          <a:xfrm>
            <a:off x="11468405" y="2561234"/>
            <a:ext cx="2389327" cy="4297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Select the optimal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mirror peptide sequence</a:t>
            </a:r>
            <a:endParaRPr lang="en-US" sz="940" dirty="0"/>
          </a:p>
        </p:txBody>
      </p:sp>
      <p:sp>
        <p:nvSpPr>
          <p:cNvPr id="46" name="Shape 44"/>
          <p:cNvSpPr/>
          <p:nvPr/>
        </p:nvSpPr>
        <p:spPr>
          <a:xfrm>
            <a:off x="14240866" y="401422"/>
            <a:ext cx="2293315" cy="2867558"/>
          </a:xfrm>
          <a:prstGeom prst="rect">
            <a:avLst/>
          </a:prstGeom>
          <a:solidFill>
            <a:srgbClr val="FFFFFF"/>
          </a:solidFill>
          <a:ln w="19115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7" name="Shape 45"/>
          <p:cNvSpPr/>
          <p:nvPr/>
        </p:nvSpPr>
        <p:spPr>
          <a:xfrm>
            <a:off x="14239951" y="382219"/>
            <a:ext cx="2293315" cy="420624"/>
          </a:xfrm>
          <a:prstGeom prst="rect">
            <a:avLst/>
          </a:prstGeom>
          <a:solidFill>
            <a:srgbClr val="7030A0"/>
          </a:solidFill>
          <a:ln w="9557">
            <a:solidFill>
              <a:srgbClr val="7030A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48" name="Text 46"/>
          <p:cNvSpPr/>
          <p:nvPr/>
        </p:nvSpPr>
        <p:spPr>
          <a:xfrm>
            <a:off x="14239951" y="382219"/>
            <a:ext cx="22933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6  Chemical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</a:t>
            </a:r>
            <a:endParaRPr lang="en-US" sz="1050" dirty="0"/>
          </a:p>
        </p:txBody>
      </p:sp>
      <p:sp>
        <p:nvSpPr>
          <p:cNvPr id="51" name="Shape 49"/>
          <p:cNvSpPr/>
          <p:nvPr/>
        </p:nvSpPr>
        <p:spPr>
          <a:xfrm>
            <a:off x="15687904" y="1910460"/>
            <a:ext cx="114300" cy="114300"/>
          </a:xfrm>
          <a:prstGeom prst="ellipse">
            <a:avLst/>
          </a:prstGeom>
          <a:solidFill>
            <a:srgbClr val="F6B26B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2" name="Shape 50"/>
          <p:cNvSpPr/>
          <p:nvPr/>
        </p:nvSpPr>
        <p:spPr>
          <a:xfrm>
            <a:off x="15564612" y="1739646"/>
            <a:ext cx="114300" cy="114300"/>
          </a:xfrm>
          <a:prstGeom prst="ellipse">
            <a:avLst/>
          </a:prstGeom>
          <a:solidFill>
            <a:srgbClr val="FFD96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3" name="Shape 51"/>
          <p:cNvSpPr/>
          <p:nvPr/>
        </p:nvSpPr>
        <p:spPr>
          <a:xfrm>
            <a:off x="15745760" y="1605051"/>
            <a:ext cx="114300" cy="114300"/>
          </a:xfrm>
          <a:prstGeom prst="ellipse">
            <a:avLst/>
          </a:prstGeom>
          <a:solidFill>
            <a:srgbClr val="93C47D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4" name="Shape 52"/>
          <p:cNvSpPr/>
          <p:nvPr/>
        </p:nvSpPr>
        <p:spPr>
          <a:xfrm>
            <a:off x="15650817" y="1377086"/>
            <a:ext cx="114300" cy="114300"/>
          </a:xfrm>
          <a:prstGeom prst="ellipse">
            <a:avLst/>
          </a:prstGeom>
          <a:solidFill>
            <a:srgbClr val="B4A7D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5" name="Shape 53"/>
          <p:cNvSpPr/>
          <p:nvPr/>
        </p:nvSpPr>
        <p:spPr>
          <a:xfrm>
            <a:off x="15832779" y="1262786"/>
            <a:ext cx="114300" cy="114300"/>
          </a:xfrm>
          <a:prstGeom prst="ellipse">
            <a:avLst/>
          </a:prstGeom>
          <a:solidFill>
            <a:srgbClr val="76C7C0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6" name="Text 54"/>
          <p:cNvSpPr/>
          <p:nvPr/>
        </p:nvSpPr>
        <p:spPr>
          <a:xfrm>
            <a:off x="14239951" y="2389327"/>
            <a:ext cx="2293315" cy="59253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Solid-phase peptide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synthesis and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purification</a:t>
            </a:r>
            <a:endParaRPr lang="en-US" sz="940" dirty="0"/>
          </a:p>
        </p:txBody>
      </p:sp>
      <p:sp>
        <p:nvSpPr>
          <p:cNvPr id="57" name="Shape 55"/>
          <p:cNvSpPr/>
          <p:nvPr/>
        </p:nvSpPr>
        <p:spPr>
          <a:xfrm>
            <a:off x="14239951" y="4491533"/>
            <a:ext cx="2293315" cy="2867558"/>
          </a:xfrm>
          <a:prstGeom prst="rect">
            <a:avLst/>
          </a:prstGeom>
          <a:solidFill>
            <a:srgbClr val="FFFFFF"/>
          </a:solidFill>
          <a:ln w="19115">
            <a:solidFill>
              <a:srgbClr val="12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8" name="Shape 56"/>
          <p:cNvSpPr/>
          <p:nvPr/>
        </p:nvSpPr>
        <p:spPr>
          <a:xfrm>
            <a:off x="14239951" y="4491533"/>
            <a:ext cx="2293315" cy="420624"/>
          </a:xfrm>
          <a:prstGeom prst="rect">
            <a:avLst/>
          </a:prstGeom>
          <a:solidFill>
            <a:srgbClr val="12766E"/>
          </a:solidFill>
          <a:ln w="9557">
            <a:solidFill>
              <a:srgbClr val="12766E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59" name="Text 57"/>
          <p:cNvSpPr/>
          <p:nvPr/>
        </p:nvSpPr>
        <p:spPr>
          <a:xfrm>
            <a:off x="14239951" y="4491533"/>
            <a:ext cx="2293315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7  Tandem Mass</a:t>
            </a:r>
            <a:endParaRPr lang="en-US" sz="1050" dirty="0"/>
          </a:p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Spectrometry (MS/MS)</a:t>
            </a:r>
            <a:endParaRPr lang="en-US" sz="1050" dirty="0"/>
          </a:p>
        </p:txBody>
      </p:sp>
      <p:sp>
        <p:nvSpPr>
          <p:cNvPr id="60" name="Shape 58"/>
          <p:cNvSpPr/>
          <p:nvPr/>
        </p:nvSpPr>
        <p:spPr>
          <a:xfrm>
            <a:off x="14527073" y="5222595"/>
            <a:ext cx="1719986" cy="669341"/>
          </a:xfrm>
          <a:prstGeom prst="roundRect">
            <a:avLst>
              <a:gd name="adj" fmla="val 5738"/>
            </a:avLst>
          </a:prstGeom>
          <a:solidFill>
            <a:srgbClr val="EDF1F6"/>
          </a:solidFill>
          <a:ln w="14336">
            <a:solidFill>
              <a:srgbClr val="33475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1" name="Shape 59"/>
          <p:cNvSpPr/>
          <p:nvPr/>
        </p:nvSpPr>
        <p:spPr>
          <a:xfrm>
            <a:off x="14527073" y="5084064"/>
            <a:ext cx="497434" cy="822046"/>
          </a:xfrm>
          <a:prstGeom prst="rect">
            <a:avLst/>
          </a:prstGeom>
          <a:solidFill>
            <a:srgbClr val="D6DEE8"/>
          </a:solidFill>
          <a:ln w="14336">
            <a:solidFill>
              <a:srgbClr val="33475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2" name="Shape 60"/>
          <p:cNvSpPr/>
          <p:nvPr/>
        </p:nvSpPr>
        <p:spPr>
          <a:xfrm>
            <a:off x="15215616" y="5103266"/>
            <a:ext cx="439826" cy="133502"/>
          </a:xfrm>
          <a:prstGeom prst="rect">
            <a:avLst/>
          </a:prstGeom>
          <a:solidFill>
            <a:srgbClr val="D6DEE8"/>
          </a:solidFill>
          <a:ln w="14336">
            <a:solidFill>
              <a:srgbClr val="33475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3" name="Shape 61"/>
          <p:cNvSpPr/>
          <p:nvPr/>
        </p:nvSpPr>
        <p:spPr>
          <a:xfrm>
            <a:off x="15788945" y="5332781"/>
            <a:ext cx="382219" cy="267919"/>
          </a:xfrm>
          <a:prstGeom prst="rect">
            <a:avLst/>
          </a:prstGeom>
          <a:solidFill>
            <a:srgbClr val="FFFFFF"/>
          </a:solidFill>
          <a:ln w="11469">
            <a:solidFill>
              <a:srgbClr val="33475D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4" name="Shape 62"/>
          <p:cNvSpPr/>
          <p:nvPr/>
        </p:nvSpPr>
        <p:spPr>
          <a:xfrm>
            <a:off x="15845638" y="5467198"/>
            <a:ext cx="38405" cy="76810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5" name="Shape 63"/>
          <p:cNvSpPr/>
          <p:nvPr/>
        </p:nvSpPr>
        <p:spPr>
          <a:xfrm>
            <a:off x="15922447" y="5409590"/>
            <a:ext cx="38405" cy="133502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6" name="Shape 64"/>
          <p:cNvSpPr/>
          <p:nvPr/>
        </p:nvSpPr>
        <p:spPr>
          <a:xfrm>
            <a:off x="15999257" y="5447995"/>
            <a:ext cx="38405" cy="96012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7" name="Shape 65"/>
          <p:cNvSpPr/>
          <p:nvPr/>
        </p:nvSpPr>
        <p:spPr>
          <a:xfrm>
            <a:off x="16075152" y="5390388"/>
            <a:ext cx="38405" cy="152705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8" name="Shape 66"/>
          <p:cNvSpPr/>
          <p:nvPr/>
        </p:nvSpPr>
        <p:spPr>
          <a:xfrm>
            <a:off x="14623085" y="6231636"/>
            <a:ext cx="0" cy="573329"/>
          </a:xfrm>
          <a:prstGeom prst="line">
            <a:avLst/>
          </a:prstGeom>
          <a:noFill/>
          <a:ln w="11469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69" name="Shape 67"/>
          <p:cNvSpPr/>
          <p:nvPr/>
        </p:nvSpPr>
        <p:spPr>
          <a:xfrm>
            <a:off x="14623085" y="6804965"/>
            <a:ext cx="1528877" cy="0"/>
          </a:xfrm>
          <a:prstGeom prst="line">
            <a:avLst/>
          </a:prstGeom>
          <a:noFill/>
          <a:ln w="11469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0" name="Shape 68"/>
          <p:cNvSpPr/>
          <p:nvPr/>
        </p:nvSpPr>
        <p:spPr>
          <a:xfrm>
            <a:off x="14861743" y="6594653"/>
            <a:ext cx="47549" cy="210312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1" name="Text 69"/>
          <p:cNvSpPr/>
          <p:nvPr/>
        </p:nvSpPr>
        <p:spPr>
          <a:xfrm>
            <a:off x="14775790" y="6451092"/>
            <a:ext cx="2194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y7</a:t>
            </a:r>
            <a:endParaRPr lang="en-US" sz="680" dirty="0"/>
          </a:p>
        </p:txBody>
      </p:sp>
      <p:sp>
        <p:nvSpPr>
          <p:cNvPr id="72" name="Shape 70"/>
          <p:cNvSpPr/>
          <p:nvPr/>
        </p:nvSpPr>
        <p:spPr>
          <a:xfrm>
            <a:off x="15147950" y="6422746"/>
            <a:ext cx="47549" cy="382219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3" name="Text 71"/>
          <p:cNvSpPr/>
          <p:nvPr/>
        </p:nvSpPr>
        <p:spPr>
          <a:xfrm>
            <a:off x="15061997" y="6279185"/>
            <a:ext cx="2194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en-US" sz="680" dirty="0"/>
          </a:p>
        </p:txBody>
      </p:sp>
      <p:sp>
        <p:nvSpPr>
          <p:cNvPr id="74" name="Shape 72"/>
          <p:cNvSpPr/>
          <p:nvPr/>
        </p:nvSpPr>
        <p:spPr>
          <a:xfrm>
            <a:off x="15435072" y="6517843"/>
            <a:ext cx="47549" cy="287122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5" name="Text 73"/>
          <p:cNvSpPr/>
          <p:nvPr/>
        </p:nvSpPr>
        <p:spPr>
          <a:xfrm>
            <a:off x="15349118" y="6374282"/>
            <a:ext cx="2194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</a:t>
            </a:r>
            <a:endParaRPr lang="en-US" sz="680" dirty="0"/>
          </a:p>
        </p:txBody>
      </p:sp>
      <p:sp>
        <p:nvSpPr>
          <p:cNvPr id="76" name="Shape 74"/>
          <p:cNvSpPr/>
          <p:nvPr/>
        </p:nvSpPr>
        <p:spPr>
          <a:xfrm>
            <a:off x="15722194" y="6345936"/>
            <a:ext cx="47549" cy="459029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7" name="Text 75"/>
          <p:cNvSpPr/>
          <p:nvPr/>
        </p:nvSpPr>
        <p:spPr>
          <a:xfrm>
            <a:off x="15635326" y="6202375"/>
            <a:ext cx="2194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b7</a:t>
            </a:r>
            <a:endParaRPr lang="en-US" sz="680" dirty="0"/>
          </a:p>
        </p:txBody>
      </p:sp>
      <p:sp>
        <p:nvSpPr>
          <p:cNvPr id="78" name="Shape 76"/>
          <p:cNvSpPr/>
          <p:nvPr/>
        </p:nvSpPr>
        <p:spPr>
          <a:xfrm>
            <a:off x="16008401" y="6575450"/>
            <a:ext cx="47549" cy="229514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79" name="Text 77"/>
          <p:cNvSpPr/>
          <p:nvPr/>
        </p:nvSpPr>
        <p:spPr>
          <a:xfrm>
            <a:off x="15922447" y="6431890"/>
            <a:ext cx="219456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y4</a:t>
            </a:r>
            <a:endParaRPr lang="en-US" sz="680" dirty="0"/>
          </a:p>
        </p:txBody>
      </p:sp>
      <p:sp>
        <p:nvSpPr>
          <p:cNvPr id="80" name="Text 78"/>
          <p:cNvSpPr/>
          <p:nvPr/>
        </p:nvSpPr>
        <p:spPr>
          <a:xfrm>
            <a:off x="16247059" y="6843370"/>
            <a:ext cx="287122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m/z</a:t>
            </a:r>
            <a:endParaRPr lang="en-US" sz="750" dirty="0"/>
          </a:p>
        </p:txBody>
      </p:sp>
      <p:sp>
        <p:nvSpPr>
          <p:cNvPr id="81" name="Text 79"/>
          <p:cNvSpPr/>
          <p:nvPr/>
        </p:nvSpPr>
        <p:spPr>
          <a:xfrm>
            <a:off x="14239951" y="7034479"/>
            <a:ext cx="2293315" cy="24871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Acquire MS/MS spectra</a:t>
            </a:r>
            <a:endParaRPr lang="en-US" sz="940" dirty="0"/>
          </a:p>
        </p:txBody>
      </p:sp>
      <p:sp>
        <p:nvSpPr>
          <p:cNvPr id="82" name="Shape 80"/>
          <p:cNvSpPr/>
          <p:nvPr/>
        </p:nvSpPr>
        <p:spPr>
          <a:xfrm>
            <a:off x="2580437" y="4491533"/>
            <a:ext cx="2293315" cy="2867558"/>
          </a:xfrm>
          <a:prstGeom prst="rect">
            <a:avLst/>
          </a:prstGeom>
          <a:solidFill>
            <a:srgbClr val="FFFFFF"/>
          </a:solidFill>
          <a:ln w="19115">
            <a:solidFill>
              <a:srgbClr val="1E6BB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3" name="Shape 81"/>
          <p:cNvSpPr/>
          <p:nvPr/>
        </p:nvSpPr>
        <p:spPr>
          <a:xfrm>
            <a:off x="2580437" y="4491533"/>
            <a:ext cx="2293315" cy="382219"/>
          </a:xfrm>
          <a:prstGeom prst="rect">
            <a:avLst/>
          </a:prstGeom>
          <a:solidFill>
            <a:srgbClr val="1E6BB8"/>
          </a:solidFill>
          <a:ln w="9557">
            <a:solidFill>
              <a:srgbClr val="1E6BB8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4" name="Text 82"/>
          <p:cNvSpPr/>
          <p:nvPr/>
        </p:nvSpPr>
        <p:spPr>
          <a:xfrm>
            <a:off x="2580437" y="4491533"/>
            <a:ext cx="2293315" cy="3822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8  Data Recovery</a:t>
            </a:r>
            <a:endParaRPr lang="en-US" sz="1050" dirty="0"/>
          </a:p>
        </p:txBody>
      </p:sp>
      <p:sp>
        <p:nvSpPr>
          <p:cNvPr id="85" name="Shape 83"/>
          <p:cNvSpPr/>
          <p:nvPr/>
        </p:nvSpPr>
        <p:spPr>
          <a:xfrm>
            <a:off x="3058668" y="5160874"/>
            <a:ext cx="1337767" cy="860450"/>
          </a:xfrm>
          <a:prstGeom prst="rect">
            <a:avLst/>
          </a:prstGeom>
          <a:solidFill>
            <a:srgbClr val="FFFFFF"/>
          </a:solidFill>
          <a:ln w="19115">
            <a:solidFill>
              <a:srgbClr val="3B3B3B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6" name="Shape 84"/>
          <p:cNvSpPr/>
          <p:nvPr/>
        </p:nvSpPr>
        <p:spPr>
          <a:xfrm>
            <a:off x="3115361" y="5218481"/>
            <a:ext cx="1223467" cy="745236"/>
          </a:xfrm>
          <a:prstGeom prst="rect">
            <a:avLst/>
          </a:prstGeom>
          <a:solidFill>
            <a:srgbClr val="101820"/>
          </a:solidFill>
          <a:ln w="9557">
            <a:solidFill>
              <a:srgbClr val="10182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7" name="Text 85"/>
          <p:cNvSpPr/>
          <p:nvPr/>
        </p:nvSpPr>
        <p:spPr>
          <a:xfrm>
            <a:off x="3115361" y="5218481"/>
            <a:ext cx="1223467" cy="7452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90" dirty="0">
                <a:solidFill>
                  <a:srgbClr val="7CF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01010110</a:t>
            </a:r>
            <a:endParaRPr lang="en-US" sz="790" dirty="0"/>
          </a:p>
          <a:p>
            <a:pPr marL="0" indent="0" algn="ctr">
              <a:buNone/>
            </a:pPr>
            <a:r>
              <a:rPr lang="en-US" sz="790" dirty="0">
                <a:solidFill>
                  <a:srgbClr val="7CF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10110101</a:t>
            </a:r>
            <a:endParaRPr lang="en-US" sz="790" dirty="0"/>
          </a:p>
          <a:p>
            <a:pPr marL="0" indent="0" algn="ctr">
              <a:buNone/>
            </a:pPr>
            <a:r>
              <a:rPr lang="en-US" sz="790" dirty="0">
                <a:solidFill>
                  <a:srgbClr val="7CF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01011011</a:t>
            </a:r>
            <a:endParaRPr lang="en-US" sz="790" dirty="0"/>
          </a:p>
          <a:p>
            <a:pPr marL="0" indent="0" algn="ctr">
              <a:buNone/>
            </a:pPr>
            <a:r>
              <a:rPr lang="en-US" sz="790" dirty="0">
                <a:solidFill>
                  <a:srgbClr val="7CFC98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···</a:t>
            </a:r>
            <a:endParaRPr lang="en-US" sz="790" dirty="0"/>
          </a:p>
        </p:txBody>
      </p:sp>
      <p:sp>
        <p:nvSpPr>
          <p:cNvPr id="88" name="Shape 86"/>
          <p:cNvSpPr/>
          <p:nvPr/>
        </p:nvSpPr>
        <p:spPr>
          <a:xfrm>
            <a:off x="2915107" y="6021324"/>
            <a:ext cx="1624889" cy="96012"/>
          </a:xfrm>
          <a:prstGeom prst="roundRect">
            <a:avLst>
              <a:gd name="adj" fmla="val 29524"/>
            </a:avLst>
          </a:prstGeom>
          <a:solidFill>
            <a:srgbClr val="B7C0CC"/>
          </a:solidFill>
          <a:ln w="9557">
            <a:solidFill>
              <a:srgbClr val="8A94A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89" name="Text 87"/>
          <p:cNvSpPr/>
          <p:nvPr/>
        </p:nvSpPr>
        <p:spPr>
          <a:xfrm>
            <a:off x="2580437" y="6384341"/>
            <a:ext cx="2293315" cy="669341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Spectrum decoding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and error correction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 recover the</a:t>
            </a:r>
            <a:endParaRPr lang="en-US" sz="940" dirty="0"/>
          </a:p>
          <a:p>
            <a:pPr marL="0" indent="0" algn="ctr">
              <a:buNone/>
            </a:pPr>
            <a:r>
              <a:rPr lang="en-US" sz="94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original binary data</a:t>
            </a:r>
            <a:endParaRPr lang="en-US" sz="940" dirty="0"/>
          </a:p>
        </p:txBody>
      </p:sp>
      <p:sp>
        <p:nvSpPr>
          <p:cNvPr id="90" name="Shape 88"/>
          <p:cNvSpPr/>
          <p:nvPr/>
        </p:nvSpPr>
        <p:spPr>
          <a:xfrm>
            <a:off x="716890" y="4969764"/>
            <a:ext cx="1433779" cy="1911096"/>
          </a:xfrm>
          <a:prstGeom prst="roundRect">
            <a:avLst>
              <a:gd name="adj" fmla="val 7972"/>
            </a:avLst>
          </a:prstGeom>
          <a:solidFill>
            <a:srgbClr val="FFFFFF">
              <a:alpha val="0"/>
            </a:srgbClr>
          </a:solidFill>
          <a:ln w="14336">
            <a:solidFill>
              <a:srgbClr val="555555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1" name="Text 89"/>
          <p:cNvSpPr/>
          <p:nvPr/>
        </p:nvSpPr>
        <p:spPr>
          <a:xfrm>
            <a:off x="716890" y="4969764"/>
            <a:ext cx="1433779" cy="19110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Closed-loop</a:t>
            </a:r>
            <a:endParaRPr lang="en-US" sz="940" dirty="0"/>
          </a:p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design-and-readout</a:t>
            </a:r>
            <a:endParaRPr lang="en-US" sz="940" dirty="0"/>
          </a:p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workflow</a:t>
            </a:r>
            <a:endParaRPr lang="en-US" sz="940" dirty="0"/>
          </a:p>
        </p:txBody>
      </p:sp>
      <p:sp>
        <p:nvSpPr>
          <p:cNvPr id="92" name="Text 90"/>
          <p:cNvSpPr/>
          <p:nvPr/>
        </p:nvSpPr>
        <p:spPr>
          <a:xfrm>
            <a:off x="5351983" y="4090111"/>
            <a:ext cx="8219542" cy="26791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3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Fragmentation Pattern Comparison (Example)</a:t>
            </a:r>
            <a:endParaRPr lang="en-US" sz="1130" dirty="0"/>
          </a:p>
        </p:txBody>
      </p:sp>
      <p:sp>
        <p:nvSpPr>
          <p:cNvPr id="93" name="Shape 91"/>
          <p:cNvSpPr/>
          <p:nvPr/>
        </p:nvSpPr>
        <p:spPr>
          <a:xfrm>
            <a:off x="5351983" y="4510735"/>
            <a:ext cx="8219542" cy="4014216"/>
          </a:xfrm>
          <a:prstGeom prst="rect">
            <a:avLst/>
          </a:prstGeom>
          <a:solidFill>
            <a:srgbClr val="FFFFFF">
              <a:alpha val="0"/>
            </a:srgbClr>
          </a:solidFill>
          <a:ln w="14336">
            <a:solidFill>
              <a:srgbClr val="666666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4" name="Shape 92"/>
          <p:cNvSpPr/>
          <p:nvPr/>
        </p:nvSpPr>
        <p:spPr>
          <a:xfrm>
            <a:off x="5543093" y="4731106"/>
            <a:ext cx="3918204" cy="573329"/>
          </a:xfrm>
          <a:prstGeom prst="rect">
            <a:avLst/>
          </a:prstGeom>
          <a:solidFill>
            <a:srgbClr val="D6E8CE"/>
          </a:solidFill>
          <a:ln w="14336">
            <a:solidFill>
              <a:srgbClr val="5381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5" name="Text 93"/>
          <p:cNvSpPr/>
          <p:nvPr/>
        </p:nvSpPr>
        <p:spPr>
          <a:xfrm>
            <a:off x="5543093" y="4731106"/>
            <a:ext cx="3918204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Rich Fragmentation (Easy to Sequence)</a:t>
            </a:r>
            <a:endParaRPr lang="en-US" sz="1020" dirty="0"/>
          </a:p>
          <a:p>
            <a:pPr marL="0" indent="0" algn="ctr">
              <a:buNone/>
            </a:pPr>
            <a:r>
              <a:rPr lang="en-US" sz="87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More cleavage sites, stronger signals,</a:t>
            </a:r>
            <a:endParaRPr lang="en-US" sz="1020" dirty="0"/>
          </a:p>
          <a:p>
            <a:pPr marL="0" indent="0" algn="ctr">
              <a:buNone/>
            </a:pPr>
            <a:r>
              <a:rPr lang="en-US" sz="87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better sequence coverage</a:t>
            </a:r>
            <a:endParaRPr lang="en-US" sz="1020" dirty="0"/>
          </a:p>
        </p:txBody>
      </p:sp>
      <p:sp>
        <p:nvSpPr>
          <p:cNvPr id="96" name="Shape 94"/>
          <p:cNvSpPr/>
          <p:nvPr/>
        </p:nvSpPr>
        <p:spPr>
          <a:xfrm>
            <a:off x="5543093" y="5304435"/>
            <a:ext cx="3918204" cy="3010205"/>
          </a:xfrm>
          <a:prstGeom prst="rect">
            <a:avLst/>
          </a:prstGeom>
          <a:solidFill>
            <a:srgbClr val="FFFFFF"/>
          </a:solidFill>
          <a:ln w="14336">
            <a:solidFill>
              <a:srgbClr val="538135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7" name="Text 95"/>
          <p:cNvSpPr/>
          <p:nvPr/>
        </p:nvSpPr>
        <p:spPr>
          <a:xfrm>
            <a:off x="6222492" y="5524804"/>
            <a:ext cx="305410" cy="11474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H—</a:t>
            </a:r>
            <a:endParaRPr lang="en-US" sz="870" dirty="0"/>
          </a:p>
        </p:txBody>
      </p:sp>
      <p:sp>
        <p:nvSpPr>
          <p:cNvPr id="98" name="Shape 96"/>
          <p:cNvSpPr/>
          <p:nvPr/>
        </p:nvSpPr>
        <p:spPr>
          <a:xfrm>
            <a:off x="6421373" y="5582412"/>
            <a:ext cx="2275027" cy="0"/>
          </a:xfrm>
          <a:prstGeom prst="line">
            <a:avLst/>
          </a:prstGeom>
          <a:noFill/>
          <a:ln w="11469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99" name="Shape 97"/>
          <p:cNvSpPr/>
          <p:nvPr/>
        </p:nvSpPr>
        <p:spPr>
          <a:xfrm>
            <a:off x="6421373" y="5478706"/>
            <a:ext cx="229514" cy="229514"/>
          </a:xfrm>
          <a:prstGeom prst="ellipse">
            <a:avLst/>
          </a:prstGeom>
          <a:solidFill>
            <a:srgbClr val="9DC3E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0" name="Text 98"/>
          <p:cNvSpPr/>
          <p:nvPr/>
        </p:nvSpPr>
        <p:spPr>
          <a:xfrm>
            <a:off x="6421373" y="5467655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101" name="Shape 99"/>
          <p:cNvSpPr/>
          <p:nvPr/>
        </p:nvSpPr>
        <p:spPr>
          <a:xfrm>
            <a:off x="6717638" y="5478706"/>
            <a:ext cx="229514" cy="229514"/>
          </a:xfrm>
          <a:prstGeom prst="ellipse">
            <a:avLst/>
          </a:prstGeom>
          <a:solidFill>
            <a:srgbClr val="E0666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2" name="Text 100"/>
          <p:cNvSpPr/>
          <p:nvPr/>
        </p:nvSpPr>
        <p:spPr>
          <a:xfrm>
            <a:off x="6736841" y="546719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03" name="Shape 101"/>
          <p:cNvSpPr/>
          <p:nvPr/>
        </p:nvSpPr>
        <p:spPr>
          <a:xfrm>
            <a:off x="7001276" y="5466225"/>
            <a:ext cx="229514" cy="229514"/>
          </a:xfrm>
          <a:prstGeom prst="ellipse">
            <a:avLst/>
          </a:prstGeom>
          <a:solidFill>
            <a:srgbClr val="F6B26B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4" name="Text 102"/>
          <p:cNvSpPr/>
          <p:nvPr/>
        </p:nvSpPr>
        <p:spPr>
          <a:xfrm>
            <a:off x="7023962" y="546719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</a:t>
            </a:r>
            <a:endParaRPr lang="en-US" sz="900" dirty="0"/>
          </a:p>
        </p:txBody>
      </p:sp>
      <p:sp>
        <p:nvSpPr>
          <p:cNvPr id="105" name="Shape 103"/>
          <p:cNvSpPr/>
          <p:nvPr/>
        </p:nvSpPr>
        <p:spPr>
          <a:xfrm>
            <a:off x="7290968" y="5467655"/>
            <a:ext cx="229514" cy="229514"/>
          </a:xfrm>
          <a:prstGeom prst="ellipse">
            <a:avLst/>
          </a:prstGeom>
          <a:solidFill>
            <a:srgbClr val="FFD96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6" name="Text 104"/>
          <p:cNvSpPr/>
          <p:nvPr/>
        </p:nvSpPr>
        <p:spPr>
          <a:xfrm>
            <a:off x="7311084" y="546719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</a:t>
            </a:r>
            <a:endParaRPr lang="en-US" sz="900" dirty="0"/>
          </a:p>
        </p:txBody>
      </p:sp>
      <p:sp>
        <p:nvSpPr>
          <p:cNvPr id="107" name="Shape 105"/>
          <p:cNvSpPr/>
          <p:nvPr/>
        </p:nvSpPr>
        <p:spPr>
          <a:xfrm>
            <a:off x="7568945" y="5457596"/>
            <a:ext cx="229514" cy="229514"/>
          </a:xfrm>
          <a:prstGeom prst="ellipse">
            <a:avLst/>
          </a:prstGeom>
          <a:solidFill>
            <a:srgbClr val="93C47D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08" name="Text 106"/>
          <p:cNvSpPr/>
          <p:nvPr/>
        </p:nvSpPr>
        <p:spPr>
          <a:xfrm>
            <a:off x="7569403" y="5460771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</a:t>
            </a:r>
            <a:endParaRPr lang="en-US" sz="900" dirty="0"/>
          </a:p>
        </p:txBody>
      </p:sp>
      <p:sp>
        <p:nvSpPr>
          <p:cNvPr id="109" name="Shape 107"/>
          <p:cNvSpPr/>
          <p:nvPr/>
        </p:nvSpPr>
        <p:spPr>
          <a:xfrm>
            <a:off x="7855566" y="5457596"/>
            <a:ext cx="229514" cy="229514"/>
          </a:xfrm>
          <a:prstGeom prst="ellipse">
            <a:avLst/>
          </a:prstGeom>
          <a:solidFill>
            <a:srgbClr val="B4A7D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0" name="Text 108"/>
          <p:cNvSpPr/>
          <p:nvPr/>
        </p:nvSpPr>
        <p:spPr>
          <a:xfrm>
            <a:off x="7856068" y="546719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900" dirty="0"/>
          </a:p>
        </p:txBody>
      </p:sp>
      <p:sp>
        <p:nvSpPr>
          <p:cNvPr id="111" name="Shape 109"/>
          <p:cNvSpPr/>
          <p:nvPr/>
        </p:nvSpPr>
        <p:spPr>
          <a:xfrm>
            <a:off x="8160433" y="5467655"/>
            <a:ext cx="229514" cy="229514"/>
          </a:xfrm>
          <a:prstGeom prst="ellipse">
            <a:avLst/>
          </a:prstGeom>
          <a:solidFill>
            <a:srgbClr val="76C7C0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2" name="Text 110"/>
          <p:cNvSpPr/>
          <p:nvPr/>
        </p:nvSpPr>
        <p:spPr>
          <a:xfrm>
            <a:off x="8170620" y="546719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900" dirty="0"/>
          </a:p>
        </p:txBody>
      </p:sp>
      <p:sp>
        <p:nvSpPr>
          <p:cNvPr id="113" name="Shape 111"/>
          <p:cNvSpPr/>
          <p:nvPr/>
        </p:nvSpPr>
        <p:spPr>
          <a:xfrm>
            <a:off x="8458199" y="5466225"/>
            <a:ext cx="229514" cy="229514"/>
          </a:xfrm>
          <a:prstGeom prst="ellipse">
            <a:avLst/>
          </a:prstGeom>
          <a:solidFill>
            <a:srgbClr val="D5A6BD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4" name="Text 112"/>
          <p:cNvSpPr/>
          <p:nvPr/>
        </p:nvSpPr>
        <p:spPr>
          <a:xfrm>
            <a:off x="8457742" y="546719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900" dirty="0"/>
          </a:p>
        </p:txBody>
      </p:sp>
      <p:sp>
        <p:nvSpPr>
          <p:cNvPr id="115" name="Shape 113"/>
          <p:cNvSpPr/>
          <p:nvPr/>
        </p:nvSpPr>
        <p:spPr>
          <a:xfrm>
            <a:off x="6680606" y="5447995"/>
            <a:ext cx="0" cy="305410"/>
          </a:xfrm>
          <a:prstGeom prst="line">
            <a:avLst/>
          </a:prstGeom>
          <a:noFill/>
          <a:ln w="14336">
            <a:solidFill>
              <a:srgbClr val="C000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6" name="Shape 114"/>
          <p:cNvSpPr/>
          <p:nvPr/>
        </p:nvSpPr>
        <p:spPr>
          <a:xfrm>
            <a:off x="6976872" y="5460771"/>
            <a:ext cx="0" cy="305410"/>
          </a:xfrm>
          <a:prstGeom prst="line">
            <a:avLst/>
          </a:prstGeom>
          <a:noFill/>
          <a:ln w="14336">
            <a:solidFill>
              <a:srgbClr val="C000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7" name="Shape 115"/>
          <p:cNvSpPr/>
          <p:nvPr/>
        </p:nvSpPr>
        <p:spPr>
          <a:xfrm>
            <a:off x="7540598" y="5460771"/>
            <a:ext cx="0" cy="305410"/>
          </a:xfrm>
          <a:prstGeom prst="line">
            <a:avLst/>
          </a:prstGeom>
          <a:noFill/>
          <a:ln w="14336">
            <a:solidFill>
              <a:srgbClr val="C000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8" name="Shape 116"/>
          <p:cNvSpPr/>
          <p:nvPr/>
        </p:nvSpPr>
        <p:spPr>
          <a:xfrm>
            <a:off x="8137375" y="5431435"/>
            <a:ext cx="0" cy="305410"/>
          </a:xfrm>
          <a:prstGeom prst="line">
            <a:avLst/>
          </a:prstGeom>
          <a:noFill/>
          <a:ln w="14336">
            <a:solidFill>
              <a:srgbClr val="C000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19" name="Text 117"/>
          <p:cNvSpPr/>
          <p:nvPr/>
        </p:nvSpPr>
        <p:spPr>
          <a:xfrm>
            <a:off x="8696400" y="5511648"/>
            <a:ext cx="57332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—···</a:t>
            </a:r>
            <a:endParaRPr lang="en-US" sz="870" dirty="0"/>
          </a:p>
        </p:txBody>
      </p:sp>
      <p:sp>
        <p:nvSpPr>
          <p:cNvPr id="120" name="Text 118"/>
          <p:cNvSpPr/>
          <p:nvPr/>
        </p:nvSpPr>
        <p:spPr>
          <a:xfrm>
            <a:off x="5543093" y="5811012"/>
            <a:ext cx="391820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b/y ions: abundant</a:t>
            </a:r>
            <a:endParaRPr lang="en-US" sz="940" dirty="0"/>
          </a:p>
        </p:txBody>
      </p:sp>
      <p:sp>
        <p:nvSpPr>
          <p:cNvPr id="121" name="Shape 119"/>
          <p:cNvSpPr/>
          <p:nvPr/>
        </p:nvSpPr>
        <p:spPr>
          <a:xfrm>
            <a:off x="6116422" y="6135624"/>
            <a:ext cx="0" cy="1509674"/>
          </a:xfrm>
          <a:prstGeom prst="line">
            <a:avLst/>
          </a:prstGeom>
          <a:noFill/>
          <a:ln w="11469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2" name="Shape 120"/>
          <p:cNvSpPr/>
          <p:nvPr/>
        </p:nvSpPr>
        <p:spPr>
          <a:xfrm>
            <a:off x="6116422" y="7646213"/>
            <a:ext cx="3201314" cy="0"/>
          </a:xfrm>
          <a:prstGeom prst="line">
            <a:avLst/>
          </a:prstGeom>
          <a:noFill/>
          <a:ln w="11469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3" name="Text 121"/>
          <p:cNvSpPr/>
          <p:nvPr/>
        </p:nvSpPr>
        <p:spPr>
          <a:xfrm>
            <a:off x="5886907" y="6422746"/>
            <a:ext cx="152705" cy="936346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750" dirty="0"/>
          </a:p>
        </p:txBody>
      </p:sp>
      <p:sp>
        <p:nvSpPr>
          <p:cNvPr id="124" name="Text 122"/>
          <p:cNvSpPr/>
          <p:nvPr/>
        </p:nvSpPr>
        <p:spPr>
          <a:xfrm>
            <a:off x="8955634" y="7693762"/>
            <a:ext cx="3822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m/z</a:t>
            </a:r>
            <a:endParaRPr lang="en-US" sz="750" dirty="0"/>
          </a:p>
        </p:txBody>
      </p:sp>
      <p:sp>
        <p:nvSpPr>
          <p:cNvPr id="125" name="Shape 123"/>
          <p:cNvSpPr/>
          <p:nvPr/>
        </p:nvSpPr>
        <p:spPr>
          <a:xfrm>
            <a:off x="6355994" y="7120433"/>
            <a:ext cx="66751" cy="525780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6" name="Text 124"/>
          <p:cNvSpPr/>
          <p:nvPr/>
        </p:nvSpPr>
        <p:spPr>
          <a:xfrm>
            <a:off x="6269126" y="6976872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y3</a:t>
            </a:r>
            <a:endParaRPr lang="en-US" sz="680" dirty="0"/>
          </a:p>
        </p:txBody>
      </p:sp>
      <p:sp>
        <p:nvSpPr>
          <p:cNvPr id="127" name="Shape 125"/>
          <p:cNvSpPr/>
          <p:nvPr/>
        </p:nvSpPr>
        <p:spPr>
          <a:xfrm>
            <a:off x="6613855" y="6833311"/>
            <a:ext cx="66751" cy="811987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28" name="Text 126"/>
          <p:cNvSpPr/>
          <p:nvPr/>
        </p:nvSpPr>
        <p:spPr>
          <a:xfrm>
            <a:off x="6527902" y="6689750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b2</a:t>
            </a:r>
            <a:endParaRPr lang="en-US" sz="680" dirty="0"/>
          </a:p>
        </p:txBody>
      </p:sp>
      <p:sp>
        <p:nvSpPr>
          <p:cNvPr id="129" name="Shape 127"/>
          <p:cNvSpPr/>
          <p:nvPr/>
        </p:nvSpPr>
        <p:spPr>
          <a:xfrm>
            <a:off x="6871716" y="7215530"/>
            <a:ext cx="66751" cy="429768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0" name="Text 128"/>
          <p:cNvSpPr/>
          <p:nvPr/>
        </p:nvSpPr>
        <p:spPr>
          <a:xfrm>
            <a:off x="6785762" y="7071970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y5</a:t>
            </a:r>
            <a:endParaRPr lang="en-US" sz="680" dirty="0"/>
          </a:p>
        </p:txBody>
      </p:sp>
      <p:sp>
        <p:nvSpPr>
          <p:cNvPr id="131" name="Shape 129"/>
          <p:cNvSpPr/>
          <p:nvPr/>
        </p:nvSpPr>
        <p:spPr>
          <a:xfrm>
            <a:off x="7129577" y="6642202"/>
            <a:ext cx="66751" cy="1003097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2" name="Text 130"/>
          <p:cNvSpPr/>
          <p:nvPr/>
        </p:nvSpPr>
        <p:spPr>
          <a:xfrm>
            <a:off x="7043623" y="6498641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</a:t>
            </a:r>
            <a:endParaRPr lang="en-US" sz="680" dirty="0"/>
          </a:p>
        </p:txBody>
      </p:sp>
      <p:sp>
        <p:nvSpPr>
          <p:cNvPr id="133" name="Shape 131"/>
          <p:cNvSpPr/>
          <p:nvPr/>
        </p:nvSpPr>
        <p:spPr>
          <a:xfrm>
            <a:off x="7387438" y="7024421"/>
            <a:ext cx="66751" cy="620878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4" name="Text 132"/>
          <p:cNvSpPr/>
          <p:nvPr/>
        </p:nvSpPr>
        <p:spPr>
          <a:xfrm>
            <a:off x="7301484" y="6880860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y7</a:t>
            </a:r>
            <a:endParaRPr lang="en-US" sz="680" dirty="0"/>
          </a:p>
        </p:txBody>
      </p:sp>
      <p:sp>
        <p:nvSpPr>
          <p:cNvPr id="135" name="Shape 133"/>
          <p:cNvSpPr/>
          <p:nvPr/>
        </p:nvSpPr>
        <p:spPr>
          <a:xfrm>
            <a:off x="7646213" y="6766560"/>
            <a:ext cx="66751" cy="879653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6" name="Text 134"/>
          <p:cNvSpPr/>
          <p:nvPr/>
        </p:nvSpPr>
        <p:spPr>
          <a:xfrm>
            <a:off x="7560259" y="6622999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en-US" sz="680" dirty="0"/>
          </a:p>
        </p:txBody>
      </p:sp>
      <p:sp>
        <p:nvSpPr>
          <p:cNvPr id="137" name="Shape 135"/>
          <p:cNvSpPr/>
          <p:nvPr/>
        </p:nvSpPr>
        <p:spPr>
          <a:xfrm>
            <a:off x="7904074" y="7167982"/>
            <a:ext cx="66751" cy="478231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38" name="Text 136"/>
          <p:cNvSpPr/>
          <p:nvPr/>
        </p:nvSpPr>
        <p:spPr>
          <a:xfrm>
            <a:off x="7818120" y="7024421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y9</a:t>
            </a:r>
            <a:endParaRPr lang="en-US" sz="680" dirty="0"/>
          </a:p>
        </p:txBody>
      </p:sp>
      <p:sp>
        <p:nvSpPr>
          <p:cNvPr id="139" name="Shape 137"/>
          <p:cNvSpPr/>
          <p:nvPr/>
        </p:nvSpPr>
        <p:spPr>
          <a:xfrm>
            <a:off x="8161934" y="6517843"/>
            <a:ext cx="66751" cy="1127455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0" name="Text 138"/>
          <p:cNvSpPr/>
          <p:nvPr/>
        </p:nvSpPr>
        <p:spPr>
          <a:xfrm>
            <a:off x="8075981" y="6374282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b8</a:t>
            </a:r>
            <a:endParaRPr lang="en-US" sz="680" dirty="0"/>
          </a:p>
        </p:txBody>
      </p:sp>
      <p:sp>
        <p:nvSpPr>
          <p:cNvPr id="141" name="Shape 139"/>
          <p:cNvSpPr/>
          <p:nvPr/>
        </p:nvSpPr>
        <p:spPr>
          <a:xfrm>
            <a:off x="8419795" y="6900062"/>
            <a:ext cx="66751" cy="745236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2" name="Text 140"/>
          <p:cNvSpPr/>
          <p:nvPr/>
        </p:nvSpPr>
        <p:spPr>
          <a:xfrm>
            <a:off x="8333842" y="6757416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y5</a:t>
            </a:r>
            <a:endParaRPr lang="en-US" sz="680" dirty="0"/>
          </a:p>
        </p:txBody>
      </p:sp>
      <p:sp>
        <p:nvSpPr>
          <p:cNvPr id="143" name="Shape 141"/>
          <p:cNvSpPr/>
          <p:nvPr/>
        </p:nvSpPr>
        <p:spPr>
          <a:xfrm>
            <a:off x="8677656" y="7071970"/>
            <a:ext cx="66751" cy="573329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4" name="Text 142"/>
          <p:cNvSpPr/>
          <p:nvPr/>
        </p:nvSpPr>
        <p:spPr>
          <a:xfrm>
            <a:off x="8591702" y="6929323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b4</a:t>
            </a:r>
            <a:endParaRPr lang="en-US" sz="680" dirty="0"/>
          </a:p>
        </p:txBody>
      </p:sp>
      <p:sp>
        <p:nvSpPr>
          <p:cNvPr id="145" name="Shape 143"/>
          <p:cNvSpPr/>
          <p:nvPr/>
        </p:nvSpPr>
        <p:spPr>
          <a:xfrm>
            <a:off x="8936431" y="6708953"/>
            <a:ext cx="66751" cy="936346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6" name="Text 144"/>
          <p:cNvSpPr/>
          <p:nvPr/>
        </p:nvSpPr>
        <p:spPr>
          <a:xfrm>
            <a:off x="8850478" y="6566306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</a:t>
            </a:r>
            <a:endParaRPr lang="en-US" sz="680" dirty="0"/>
          </a:p>
        </p:txBody>
      </p:sp>
      <p:sp>
        <p:nvSpPr>
          <p:cNvPr id="147" name="Shape 145"/>
          <p:cNvSpPr/>
          <p:nvPr/>
        </p:nvSpPr>
        <p:spPr>
          <a:xfrm>
            <a:off x="9194292" y="7263994"/>
            <a:ext cx="66751" cy="382219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48" name="Text 146"/>
          <p:cNvSpPr/>
          <p:nvPr/>
        </p:nvSpPr>
        <p:spPr>
          <a:xfrm>
            <a:off x="9108338" y="7120433"/>
            <a:ext cx="238658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b9</a:t>
            </a:r>
            <a:endParaRPr lang="en-US" sz="680" dirty="0"/>
          </a:p>
        </p:txBody>
      </p:sp>
      <p:sp>
        <p:nvSpPr>
          <p:cNvPr id="149" name="Text 147"/>
          <p:cNvSpPr/>
          <p:nvPr/>
        </p:nvSpPr>
        <p:spPr>
          <a:xfrm>
            <a:off x="6068873" y="7932420"/>
            <a:ext cx="2867558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High signal, high coverage,</a:t>
            </a:r>
            <a:endParaRPr lang="en-US" sz="980" dirty="0"/>
          </a:p>
          <a:p>
            <a:pPr marL="0" indent="0" algn="ctr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easy to sequence ✅</a:t>
            </a:r>
            <a:endParaRPr lang="en-US" sz="980" dirty="0"/>
          </a:p>
        </p:txBody>
      </p:sp>
      <p:sp>
        <p:nvSpPr>
          <p:cNvPr id="150" name="Shape 148"/>
          <p:cNvSpPr/>
          <p:nvPr/>
        </p:nvSpPr>
        <p:spPr>
          <a:xfrm>
            <a:off x="9652406" y="4731106"/>
            <a:ext cx="3727094" cy="573329"/>
          </a:xfrm>
          <a:prstGeom prst="rect">
            <a:avLst/>
          </a:prstGeom>
          <a:solidFill>
            <a:srgbClr val="F5CBCB"/>
          </a:solidFill>
          <a:ln w="14336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1" name="Text 149"/>
          <p:cNvSpPr/>
          <p:nvPr/>
        </p:nvSpPr>
        <p:spPr>
          <a:xfrm>
            <a:off x="9652406" y="4731106"/>
            <a:ext cx="3727094" cy="573329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2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Sparse Fragmentation (Hard to Sequence)</a:t>
            </a:r>
            <a:endParaRPr lang="en-US" sz="1020" dirty="0"/>
          </a:p>
          <a:p>
            <a:pPr marL="0" indent="0" algn="ctr">
              <a:buNone/>
            </a:pPr>
            <a:r>
              <a:rPr lang="en-US" sz="87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Fewer cleavage sites, weaker signals,</a:t>
            </a:r>
            <a:endParaRPr lang="en-US" sz="1020" dirty="0"/>
          </a:p>
          <a:p>
            <a:pPr marL="0" indent="0" algn="ctr">
              <a:buNone/>
            </a:pPr>
            <a:r>
              <a:rPr lang="en-US" sz="87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poor sequence coverage</a:t>
            </a:r>
            <a:endParaRPr lang="en-US" sz="1020" dirty="0"/>
          </a:p>
        </p:txBody>
      </p:sp>
      <p:sp>
        <p:nvSpPr>
          <p:cNvPr id="152" name="Shape 150"/>
          <p:cNvSpPr/>
          <p:nvPr/>
        </p:nvSpPr>
        <p:spPr>
          <a:xfrm>
            <a:off x="9671609" y="5280659"/>
            <a:ext cx="3727094" cy="3010205"/>
          </a:xfrm>
          <a:prstGeom prst="rect">
            <a:avLst/>
          </a:prstGeom>
          <a:solidFill>
            <a:srgbClr val="FFFFFF"/>
          </a:solidFill>
          <a:ln w="14336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3" name="Text 151"/>
          <p:cNvSpPr/>
          <p:nvPr/>
        </p:nvSpPr>
        <p:spPr>
          <a:xfrm>
            <a:off x="10340950" y="5550052"/>
            <a:ext cx="305410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H—</a:t>
            </a:r>
            <a:endParaRPr lang="en-US" sz="870" dirty="0"/>
          </a:p>
        </p:txBody>
      </p:sp>
      <p:sp>
        <p:nvSpPr>
          <p:cNvPr id="154" name="Shape 152"/>
          <p:cNvSpPr/>
          <p:nvPr/>
        </p:nvSpPr>
        <p:spPr>
          <a:xfrm>
            <a:off x="10637216" y="5626862"/>
            <a:ext cx="1987906" cy="0"/>
          </a:xfrm>
          <a:prstGeom prst="line">
            <a:avLst/>
          </a:prstGeom>
          <a:noFill/>
          <a:ln w="11469">
            <a:solidFill>
              <a:srgbClr val="999999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5" name="Shape 153"/>
          <p:cNvSpPr/>
          <p:nvPr/>
        </p:nvSpPr>
        <p:spPr>
          <a:xfrm>
            <a:off x="10498345" y="5522079"/>
            <a:ext cx="229514" cy="229514"/>
          </a:xfrm>
          <a:prstGeom prst="ellipse">
            <a:avLst/>
          </a:prstGeom>
          <a:solidFill>
            <a:srgbClr val="9DC3E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6" name="Text 154"/>
          <p:cNvSpPr/>
          <p:nvPr/>
        </p:nvSpPr>
        <p:spPr>
          <a:xfrm>
            <a:off x="10522459" y="5505603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</a:t>
            </a:r>
            <a:endParaRPr lang="en-US" sz="900" dirty="0"/>
          </a:p>
        </p:txBody>
      </p:sp>
      <p:sp>
        <p:nvSpPr>
          <p:cNvPr id="157" name="Shape 155"/>
          <p:cNvSpPr/>
          <p:nvPr/>
        </p:nvSpPr>
        <p:spPr>
          <a:xfrm>
            <a:off x="10838382" y="5522079"/>
            <a:ext cx="247803" cy="229514"/>
          </a:xfrm>
          <a:prstGeom prst="ellipse">
            <a:avLst/>
          </a:prstGeom>
          <a:solidFill>
            <a:srgbClr val="E0666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58" name="Text 156"/>
          <p:cNvSpPr/>
          <p:nvPr/>
        </p:nvSpPr>
        <p:spPr>
          <a:xfrm>
            <a:off x="10856671" y="5512105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</a:t>
            </a:r>
            <a:endParaRPr lang="en-US" sz="900" dirty="0"/>
          </a:p>
        </p:txBody>
      </p:sp>
      <p:sp>
        <p:nvSpPr>
          <p:cNvPr id="159" name="Shape 157"/>
          <p:cNvSpPr/>
          <p:nvPr/>
        </p:nvSpPr>
        <p:spPr>
          <a:xfrm>
            <a:off x="11191342" y="5524804"/>
            <a:ext cx="229514" cy="229514"/>
          </a:xfrm>
          <a:prstGeom prst="ellipse">
            <a:avLst/>
          </a:prstGeom>
          <a:solidFill>
            <a:srgbClr val="F6B26B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0" name="Text 158"/>
          <p:cNvSpPr/>
          <p:nvPr/>
        </p:nvSpPr>
        <p:spPr>
          <a:xfrm>
            <a:off x="11195949" y="5522079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</a:t>
            </a:r>
            <a:endParaRPr lang="en-US" sz="900" dirty="0"/>
          </a:p>
        </p:txBody>
      </p:sp>
      <p:sp>
        <p:nvSpPr>
          <p:cNvPr id="161" name="Shape 159"/>
          <p:cNvSpPr/>
          <p:nvPr/>
        </p:nvSpPr>
        <p:spPr>
          <a:xfrm>
            <a:off x="11508859" y="5528981"/>
            <a:ext cx="229514" cy="229514"/>
          </a:xfrm>
          <a:prstGeom prst="ellipse">
            <a:avLst/>
          </a:prstGeom>
          <a:solidFill>
            <a:srgbClr val="FFD96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2" name="Text 160"/>
          <p:cNvSpPr/>
          <p:nvPr/>
        </p:nvSpPr>
        <p:spPr>
          <a:xfrm>
            <a:off x="11526013" y="551164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</a:t>
            </a:r>
            <a:endParaRPr lang="en-US" sz="900" dirty="0"/>
          </a:p>
        </p:txBody>
      </p:sp>
      <p:sp>
        <p:nvSpPr>
          <p:cNvPr id="163" name="Shape 161"/>
          <p:cNvSpPr/>
          <p:nvPr/>
        </p:nvSpPr>
        <p:spPr>
          <a:xfrm>
            <a:off x="11780470" y="5511648"/>
            <a:ext cx="229514" cy="229514"/>
          </a:xfrm>
          <a:prstGeom prst="ellipse">
            <a:avLst/>
          </a:prstGeom>
          <a:solidFill>
            <a:srgbClr val="93C47D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4" name="Text 162"/>
          <p:cNvSpPr/>
          <p:nvPr/>
        </p:nvSpPr>
        <p:spPr>
          <a:xfrm>
            <a:off x="11812220" y="551164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</a:t>
            </a:r>
            <a:endParaRPr lang="en-US" sz="900" dirty="0"/>
          </a:p>
        </p:txBody>
      </p:sp>
      <p:sp>
        <p:nvSpPr>
          <p:cNvPr id="165" name="Shape 163"/>
          <p:cNvSpPr/>
          <p:nvPr/>
        </p:nvSpPr>
        <p:spPr>
          <a:xfrm>
            <a:off x="12109400" y="5511648"/>
            <a:ext cx="229514" cy="229514"/>
          </a:xfrm>
          <a:prstGeom prst="ellipse">
            <a:avLst/>
          </a:prstGeom>
          <a:solidFill>
            <a:srgbClr val="B4A7D6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6" name="Text 164"/>
          <p:cNvSpPr/>
          <p:nvPr/>
        </p:nvSpPr>
        <p:spPr>
          <a:xfrm>
            <a:off x="12099341" y="551164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</a:t>
            </a:r>
            <a:endParaRPr lang="en-US" sz="900" dirty="0"/>
          </a:p>
        </p:txBody>
      </p:sp>
      <p:sp>
        <p:nvSpPr>
          <p:cNvPr id="167" name="Shape 165"/>
          <p:cNvSpPr/>
          <p:nvPr/>
        </p:nvSpPr>
        <p:spPr>
          <a:xfrm>
            <a:off x="12386006" y="5533644"/>
            <a:ext cx="229514" cy="229514"/>
          </a:xfrm>
          <a:prstGeom prst="ellipse">
            <a:avLst/>
          </a:prstGeom>
          <a:solidFill>
            <a:srgbClr val="76C7C0"/>
          </a:solidFill>
          <a:ln w="7646">
            <a:solidFill>
              <a:srgbClr val="666666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68" name="Text 166"/>
          <p:cNvSpPr/>
          <p:nvPr/>
        </p:nvSpPr>
        <p:spPr>
          <a:xfrm>
            <a:off x="12386463" y="5511648"/>
            <a:ext cx="229514" cy="2295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</a:t>
            </a:r>
            <a:endParaRPr lang="en-US" sz="900" dirty="0"/>
          </a:p>
        </p:txBody>
      </p:sp>
      <p:sp>
        <p:nvSpPr>
          <p:cNvPr id="169" name="Shape 167"/>
          <p:cNvSpPr/>
          <p:nvPr/>
        </p:nvSpPr>
        <p:spPr>
          <a:xfrm>
            <a:off x="11151125" y="5478542"/>
            <a:ext cx="0" cy="305410"/>
          </a:xfrm>
          <a:prstGeom prst="line">
            <a:avLst/>
          </a:prstGeom>
          <a:noFill/>
          <a:ln w="14336">
            <a:solidFill>
              <a:srgbClr val="C000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0" name="Shape 168"/>
          <p:cNvSpPr/>
          <p:nvPr/>
        </p:nvSpPr>
        <p:spPr>
          <a:xfrm>
            <a:off x="12051793" y="5474157"/>
            <a:ext cx="0" cy="305410"/>
          </a:xfrm>
          <a:prstGeom prst="line">
            <a:avLst/>
          </a:prstGeom>
          <a:noFill/>
          <a:ln w="14336">
            <a:solidFill>
              <a:srgbClr val="C00000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1" name="Text 169"/>
          <p:cNvSpPr/>
          <p:nvPr/>
        </p:nvSpPr>
        <p:spPr>
          <a:xfrm>
            <a:off x="12615520" y="5550509"/>
            <a:ext cx="57332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87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—···</a:t>
            </a:r>
            <a:endParaRPr lang="en-US" sz="870" dirty="0"/>
          </a:p>
        </p:txBody>
      </p:sp>
      <p:sp>
        <p:nvSpPr>
          <p:cNvPr id="172" name="Text 170"/>
          <p:cNvSpPr/>
          <p:nvPr/>
        </p:nvSpPr>
        <p:spPr>
          <a:xfrm>
            <a:off x="9652406" y="5811012"/>
            <a:ext cx="3727094" cy="19111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4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b/y ions: sparse</a:t>
            </a:r>
            <a:endParaRPr lang="en-US" sz="940" dirty="0"/>
          </a:p>
        </p:txBody>
      </p:sp>
      <p:sp>
        <p:nvSpPr>
          <p:cNvPr id="173" name="Shape 171"/>
          <p:cNvSpPr/>
          <p:nvPr/>
        </p:nvSpPr>
        <p:spPr>
          <a:xfrm>
            <a:off x="10016338" y="6135624"/>
            <a:ext cx="0" cy="1509674"/>
          </a:xfrm>
          <a:prstGeom prst="line">
            <a:avLst/>
          </a:prstGeom>
          <a:noFill/>
          <a:ln w="11469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4" name="Shape 172"/>
          <p:cNvSpPr/>
          <p:nvPr/>
        </p:nvSpPr>
        <p:spPr>
          <a:xfrm>
            <a:off x="10016338" y="7646213"/>
            <a:ext cx="3153766" cy="0"/>
          </a:xfrm>
          <a:prstGeom prst="line">
            <a:avLst/>
          </a:prstGeom>
          <a:noFill/>
          <a:ln w="11469">
            <a:solidFill>
              <a:srgbClr val="333333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5" name="Text 173"/>
          <p:cNvSpPr/>
          <p:nvPr/>
        </p:nvSpPr>
        <p:spPr>
          <a:xfrm>
            <a:off x="9786823" y="6422746"/>
            <a:ext cx="152705" cy="936346"/>
          </a:xfrm>
          <a:prstGeom prst="rect">
            <a:avLst/>
          </a:prstGeom>
          <a:noFill/>
          <a:ln/>
        </p:spPr>
        <p:txBody>
          <a:bodyPr vert="vert270"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Intensity</a:t>
            </a:r>
            <a:endParaRPr lang="en-US" sz="750" dirty="0"/>
          </a:p>
        </p:txBody>
      </p:sp>
      <p:sp>
        <p:nvSpPr>
          <p:cNvPr id="176" name="Text 174"/>
          <p:cNvSpPr/>
          <p:nvPr/>
        </p:nvSpPr>
        <p:spPr>
          <a:xfrm>
            <a:off x="12807086" y="7693762"/>
            <a:ext cx="382219" cy="15270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m/z</a:t>
            </a:r>
            <a:endParaRPr lang="en-US" sz="750" dirty="0"/>
          </a:p>
        </p:txBody>
      </p:sp>
      <p:sp>
        <p:nvSpPr>
          <p:cNvPr id="177" name="Shape 175"/>
          <p:cNvSpPr/>
          <p:nvPr/>
        </p:nvSpPr>
        <p:spPr>
          <a:xfrm>
            <a:off x="10254996" y="7071970"/>
            <a:ext cx="76810" cy="573329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78" name="Text 176"/>
          <p:cNvSpPr/>
          <p:nvPr/>
        </p:nvSpPr>
        <p:spPr>
          <a:xfrm>
            <a:off x="10169042" y="6929323"/>
            <a:ext cx="2487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y7</a:t>
            </a:r>
            <a:endParaRPr lang="en-US" sz="680" dirty="0"/>
          </a:p>
        </p:txBody>
      </p:sp>
      <p:sp>
        <p:nvSpPr>
          <p:cNvPr id="179" name="Shape 177"/>
          <p:cNvSpPr/>
          <p:nvPr/>
        </p:nvSpPr>
        <p:spPr>
          <a:xfrm>
            <a:off x="10924337" y="6785762"/>
            <a:ext cx="76810" cy="860450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0" name="Text 178"/>
          <p:cNvSpPr/>
          <p:nvPr/>
        </p:nvSpPr>
        <p:spPr>
          <a:xfrm>
            <a:off x="10838383" y="6642202"/>
            <a:ext cx="2487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b3</a:t>
            </a:r>
            <a:endParaRPr lang="en-US" sz="680" dirty="0"/>
          </a:p>
        </p:txBody>
      </p:sp>
      <p:sp>
        <p:nvSpPr>
          <p:cNvPr id="181" name="Shape 179"/>
          <p:cNvSpPr/>
          <p:nvPr/>
        </p:nvSpPr>
        <p:spPr>
          <a:xfrm>
            <a:off x="11592763" y="7167982"/>
            <a:ext cx="76810" cy="478231"/>
          </a:xfrm>
          <a:prstGeom prst="rect">
            <a:avLst/>
          </a:prstGeom>
          <a:solidFill>
            <a:srgbClr val="4472C4"/>
          </a:solidFill>
          <a:ln w="4779">
            <a:solidFill>
              <a:srgbClr val="4472C4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2" name="Text 180"/>
          <p:cNvSpPr/>
          <p:nvPr/>
        </p:nvSpPr>
        <p:spPr>
          <a:xfrm>
            <a:off x="11506810" y="7024421"/>
            <a:ext cx="2487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4472C4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y2</a:t>
            </a:r>
            <a:endParaRPr lang="en-US" sz="680" dirty="0"/>
          </a:p>
        </p:txBody>
      </p:sp>
      <p:sp>
        <p:nvSpPr>
          <p:cNvPr id="183" name="Shape 181"/>
          <p:cNvSpPr/>
          <p:nvPr/>
        </p:nvSpPr>
        <p:spPr>
          <a:xfrm>
            <a:off x="12262104" y="6594653"/>
            <a:ext cx="76810" cy="1051560"/>
          </a:xfrm>
          <a:prstGeom prst="rect">
            <a:avLst/>
          </a:prstGeom>
          <a:solidFill>
            <a:srgbClr val="C00000"/>
          </a:solidFill>
          <a:ln w="4779">
            <a:solidFill>
              <a:srgbClr val="C00000"/>
            </a:solidFill>
            <a:prstDash val="solid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4" name="Text 182"/>
          <p:cNvSpPr/>
          <p:nvPr/>
        </p:nvSpPr>
        <p:spPr>
          <a:xfrm>
            <a:off x="12176150" y="6451092"/>
            <a:ext cx="248717" cy="1143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680" b="1" dirty="0">
                <a:solidFill>
                  <a:srgbClr val="C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b7</a:t>
            </a:r>
            <a:endParaRPr lang="en-US" sz="680" dirty="0"/>
          </a:p>
        </p:txBody>
      </p:sp>
      <p:sp>
        <p:nvSpPr>
          <p:cNvPr id="185" name="Text 183"/>
          <p:cNvSpPr/>
          <p:nvPr/>
        </p:nvSpPr>
        <p:spPr>
          <a:xfrm>
            <a:off x="9987077" y="7932420"/>
            <a:ext cx="3058668" cy="34381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signal, low coverage,</a:t>
            </a:r>
            <a:endParaRPr lang="en-US" sz="980" dirty="0"/>
          </a:p>
          <a:p>
            <a:pPr marL="0" indent="0" algn="ctr">
              <a:buNone/>
            </a:pPr>
            <a:r>
              <a:rPr lang="en-US" sz="980" b="1" dirty="0">
                <a:solidFill>
                  <a:srgbClr val="1A1A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difficult to sequence ❌</a:t>
            </a:r>
            <a:endParaRPr lang="en-US" sz="980" dirty="0"/>
          </a:p>
        </p:txBody>
      </p:sp>
      <p:sp>
        <p:nvSpPr>
          <p:cNvPr id="186" name="Shape 184"/>
          <p:cNvSpPr/>
          <p:nvPr/>
        </p:nvSpPr>
        <p:spPr>
          <a:xfrm flipH="1">
            <a:off x="5351983" y="3344875"/>
            <a:ext cx="3153766" cy="1146658"/>
          </a:xfrm>
          <a:prstGeom prst="line">
            <a:avLst/>
          </a:prstGeom>
          <a:noFill/>
          <a:ln w="12424">
            <a:solidFill>
              <a:srgbClr val="7F7F7F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7" name="Shape 185"/>
          <p:cNvSpPr/>
          <p:nvPr/>
        </p:nvSpPr>
        <p:spPr>
          <a:xfrm>
            <a:off x="11086186" y="3344875"/>
            <a:ext cx="2485339" cy="1146658"/>
          </a:xfrm>
          <a:prstGeom prst="line">
            <a:avLst/>
          </a:prstGeom>
          <a:noFill/>
          <a:ln w="12424">
            <a:solidFill>
              <a:srgbClr val="7F7F7F"/>
            </a:solidFill>
            <a:prstDash val="dash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8" name="Shape 186"/>
          <p:cNvSpPr/>
          <p:nvPr/>
        </p:nvSpPr>
        <p:spPr>
          <a:xfrm>
            <a:off x="2599639" y="1815998"/>
            <a:ext cx="334670" cy="0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89" name="Shape 187"/>
          <p:cNvSpPr/>
          <p:nvPr/>
        </p:nvSpPr>
        <p:spPr>
          <a:xfrm>
            <a:off x="5275174" y="1815998"/>
            <a:ext cx="334670" cy="0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0" name="Shape 188"/>
          <p:cNvSpPr/>
          <p:nvPr/>
        </p:nvSpPr>
        <p:spPr>
          <a:xfrm>
            <a:off x="8142732" y="1815998"/>
            <a:ext cx="334670" cy="0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1" name="Shape 189"/>
          <p:cNvSpPr/>
          <p:nvPr/>
        </p:nvSpPr>
        <p:spPr>
          <a:xfrm>
            <a:off x="11105388" y="1815998"/>
            <a:ext cx="334670" cy="0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2" name="Shape 190"/>
          <p:cNvSpPr/>
          <p:nvPr/>
        </p:nvSpPr>
        <p:spPr>
          <a:xfrm>
            <a:off x="13876934" y="1815998"/>
            <a:ext cx="334670" cy="0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3" name="Shape 191"/>
          <p:cNvSpPr/>
          <p:nvPr/>
        </p:nvSpPr>
        <p:spPr>
          <a:xfrm>
            <a:off x="15387523" y="3268980"/>
            <a:ext cx="0" cy="1185062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4" name="Shape 192"/>
          <p:cNvSpPr/>
          <p:nvPr/>
        </p:nvSpPr>
        <p:spPr>
          <a:xfrm flipH="1">
            <a:off x="13629132" y="5925312"/>
            <a:ext cx="592531" cy="0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5" name="Shape 193"/>
          <p:cNvSpPr/>
          <p:nvPr/>
        </p:nvSpPr>
        <p:spPr>
          <a:xfrm flipH="1">
            <a:off x="4931359" y="5925312"/>
            <a:ext cx="420624" cy="0"/>
          </a:xfrm>
          <a:prstGeom prst="line">
            <a:avLst/>
          </a:prstGeom>
          <a:noFill/>
          <a:ln w="19115">
            <a:solidFill>
              <a:srgbClr val="1A1A1A"/>
            </a:solidFill>
            <a:prstDash val="solid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6" name="Shape 194"/>
          <p:cNvSpPr/>
          <p:nvPr/>
        </p:nvSpPr>
        <p:spPr>
          <a:xfrm flipV="1">
            <a:off x="1433779" y="3287268"/>
            <a:ext cx="0" cy="1663294"/>
          </a:xfrm>
          <a:prstGeom prst="line">
            <a:avLst/>
          </a:prstGeom>
          <a:noFill/>
          <a:ln w="14336">
            <a:solidFill>
              <a:srgbClr val="555555"/>
            </a:solidFill>
            <a:prstDash val="dash"/>
            <a:tailEnd type="triangle"/>
          </a:ln>
        </p:spPr>
        <p:txBody>
          <a:bodyPr/>
          <a:lstStyle/>
          <a:p>
            <a:endParaRPr lang="zh-CN" altLang="en-US"/>
          </a:p>
        </p:txBody>
      </p:sp>
      <p:sp>
        <p:nvSpPr>
          <p:cNvPr id="197" name="Shape 195"/>
          <p:cNvSpPr/>
          <p:nvPr/>
        </p:nvSpPr>
        <p:spPr>
          <a:xfrm flipH="1">
            <a:off x="2189074" y="5925312"/>
            <a:ext cx="373075" cy="0"/>
          </a:xfrm>
          <a:prstGeom prst="line">
            <a:avLst/>
          </a:prstGeom>
          <a:noFill/>
          <a:ln w="14336">
            <a:solidFill>
              <a:srgbClr val="555555"/>
            </a:solidFill>
            <a:prstDash val="dash"/>
            <a:tailEnd type="triangle"/>
          </a:ln>
        </p:spPr>
        <p:txBody>
          <a:bodyPr/>
          <a:lstStyle/>
          <a:p>
            <a:endParaRPr lang="zh-CN" altLang="en-US"/>
          </a:p>
        </p:txBody>
      </p:sp>
      <p:pic>
        <p:nvPicPr>
          <p:cNvPr id="199" name="图形 198">
            <a:extLst>
              <a:ext uri="{FF2B5EF4-FFF2-40B4-BE49-F238E27FC236}">
                <a16:creationId xmlns:a16="http://schemas.microsoft.com/office/drawing/2014/main" id="{F3444CFC-CDED-5E9F-7105-C13F84D71D6C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4897481" y="1411069"/>
            <a:ext cx="618515" cy="618515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32</TotalTime>
  <Words>288</Words>
  <Application>Microsoft Office PowerPoint</Application>
  <PresentationFormat>自定义</PresentationFormat>
  <Paragraphs>120</Paragraphs>
  <Slides>1</Slides>
  <Notes>1</Notes>
  <HiddenSlides>0</HiddenSlides>
  <MMClips>0</MMClips>
  <ScaleCrop>false</ScaleCrop>
  <HeadingPairs>
    <vt:vector size="6" baseType="variant">
      <vt:variant>
        <vt:lpstr>已用的字体</vt:lpstr>
      </vt:variant>
      <vt:variant>
        <vt:i4>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4" baseType="lpstr">
      <vt:lpstr>Arial</vt:lpstr>
      <vt:lpstr>Courier New</vt:lpstr>
      <vt:lpstr>Office Theme</vt:lpstr>
      <vt:lpstr>PowerPoint 演示文稿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DBond</dc:creator>
  <cp:lastModifiedBy>GS J</cp:lastModifiedBy>
  <cp:revision>2</cp:revision>
  <dcterms:created xsi:type="dcterms:W3CDTF">2026-09-21T02:41:13Z</dcterms:created>
  <dcterms:modified xsi:type="dcterms:W3CDTF">2026-09-21T03:53:54Z</dcterms:modified>
</cp:coreProperties>
</file>