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12192000" cy="360045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1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20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9241"/>
            <a:ext cx="91440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070"/>
            <a:ext cx="91440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489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756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97613"/>
            <a:ext cx="1051560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409468"/>
            <a:ext cx="1051560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908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58453"/>
            <a:ext cx="5181600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58453"/>
            <a:ext cx="5181600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3754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1691"/>
            <a:ext cx="10515600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82610"/>
            <a:ext cx="515778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15164"/>
            <a:ext cx="5157787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82610"/>
            <a:ext cx="51831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15164"/>
            <a:ext cx="5183188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789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282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981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18398"/>
            <a:ext cx="617220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8048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18398"/>
            <a:ext cx="617220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791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058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691"/>
            <a:ext cx="2628900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691"/>
            <a:ext cx="7734300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503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8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91691"/>
            <a:ext cx="1051560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58453"/>
            <a:ext cx="1051560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337084"/>
            <a:ext cx="41148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5786" y="312723"/>
            <a:ext cx="1671936" cy="2750604"/>
          </a:xfrm>
          <a:prstGeom prst="roundRect">
            <a:avLst>
              <a:gd name="adj" fmla="val 109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4102" y="326208"/>
            <a:ext cx="1537103" cy="20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Input</a:t>
            </a:r>
            <a:endParaRPr lang="en-US" sz="1151" dirty="0"/>
          </a:p>
        </p:txBody>
      </p:sp>
      <p:sp>
        <p:nvSpPr>
          <p:cNvPr id="4" name="Text 2"/>
          <p:cNvSpPr/>
          <p:nvPr/>
        </p:nvSpPr>
        <p:spPr>
          <a:xfrm>
            <a:off x="641519" y="744195"/>
            <a:ext cx="1348335" cy="188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1519" y="959929"/>
            <a:ext cx="1348335" cy="269667"/>
          </a:xfrm>
          <a:prstGeom prst="roundRect">
            <a:avLst>
              <a:gd name="adj" fmla="val 678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1519" y="959929"/>
            <a:ext cx="1348335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 A   K   B   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1519" y="1377909"/>
            <a:ext cx="1348335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1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synthesis conditions</a:t>
            </a:r>
            <a:endParaRPr lang="en-US" sz="1051" dirty="0"/>
          </a:p>
        </p:txBody>
      </p:sp>
      <p:sp>
        <p:nvSpPr>
          <p:cNvPr id="8" name="Shape 6"/>
          <p:cNvSpPr/>
          <p:nvPr/>
        </p:nvSpPr>
        <p:spPr>
          <a:xfrm>
            <a:off x="641519" y="1607126"/>
            <a:ext cx="1348335" cy="242700"/>
          </a:xfrm>
          <a:prstGeom prst="roundRect">
            <a:avLst>
              <a:gd name="adj" fmla="val 753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1519" y="1607126"/>
            <a:ext cx="1348335" cy="24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1519" y="1903759"/>
            <a:ext cx="1348335" cy="242700"/>
          </a:xfrm>
          <a:prstGeom prst="roundRect">
            <a:avLst>
              <a:gd name="adj" fmla="val 753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1519" y="1903759"/>
            <a:ext cx="1348335" cy="24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pep_mass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1519" y="2200394"/>
            <a:ext cx="1348335" cy="242700"/>
          </a:xfrm>
          <a:prstGeom prst="roundRect">
            <a:avLst>
              <a:gd name="adj" fmla="val 753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1519" y="2200394"/>
            <a:ext cx="1348335" cy="24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1519" y="2550966"/>
            <a:ext cx="1348335" cy="350567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1519" y="2550966"/>
            <a:ext cx="1348335" cy="350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excluded: intensity, scan_num, rt</a:t>
            </a:r>
            <a:endParaRPr lang="en-US" sz="951" dirty="0"/>
          </a:p>
        </p:txBody>
      </p:sp>
      <p:sp>
        <p:nvSpPr>
          <p:cNvPr id="16" name="Shape 14"/>
          <p:cNvSpPr/>
          <p:nvPr/>
        </p:nvSpPr>
        <p:spPr>
          <a:xfrm>
            <a:off x="2205589" y="312723"/>
            <a:ext cx="1963513" cy="2750604"/>
          </a:xfrm>
          <a:prstGeom prst="roundRect">
            <a:avLst>
              <a:gd name="adj" fmla="val 771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99972" y="326208"/>
            <a:ext cx="2238237" cy="20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Graph construction</a:t>
            </a:r>
            <a:endParaRPr lang="en-US" sz="1151" dirty="0"/>
          </a:p>
        </p:txBody>
      </p:sp>
      <p:sp>
        <p:nvSpPr>
          <p:cNvPr id="18" name="Shape 16"/>
          <p:cNvSpPr/>
          <p:nvPr/>
        </p:nvSpPr>
        <p:spPr>
          <a:xfrm>
            <a:off x="3198297" y="733765"/>
            <a:ext cx="296635" cy="296635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217032" y="744193"/>
            <a:ext cx="296635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00164" y="1499261"/>
            <a:ext cx="296635" cy="296635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300164" y="1499261"/>
            <a:ext cx="296635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5564" y="1499261"/>
            <a:ext cx="296635" cy="296635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2785564" y="1499261"/>
            <a:ext cx="296635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70965" y="1499261"/>
            <a:ext cx="296635" cy="296635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270965" y="1499261"/>
            <a:ext cx="296635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56365" y="1499261"/>
            <a:ext cx="296635" cy="296635"/>
          </a:xfrm>
          <a:prstGeom prst="roundRect">
            <a:avLst>
              <a:gd name="adj" fmla="val 6165"/>
            </a:avLst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756365" y="1499261"/>
            <a:ext cx="296635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27497" y="2001979"/>
            <a:ext cx="1941603" cy="16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d_max = 6 → |i − j| ≤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26934" y="2300996"/>
            <a:ext cx="2089920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type 1 near · |i − j| = 1</a:t>
            </a:r>
            <a:endParaRPr lang="en-US" sz="951" dirty="0"/>
          </a:p>
        </p:txBody>
      </p:sp>
      <p:sp>
        <p:nvSpPr>
          <p:cNvPr id="30" name="Text 28"/>
          <p:cNvSpPr/>
          <p:nvPr/>
        </p:nvSpPr>
        <p:spPr>
          <a:xfrm>
            <a:off x="2335361" y="2497030"/>
            <a:ext cx="2089920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– type 2 remote · 2 ≤ |i − j| ≤ 5</a:t>
            </a:r>
            <a:endParaRPr lang="en-US" sz="951" dirty="0"/>
          </a:p>
        </p:txBody>
      </p:sp>
      <p:sp>
        <p:nvSpPr>
          <p:cNvPr id="31" name="Text 29"/>
          <p:cNvSpPr/>
          <p:nvPr/>
        </p:nvSpPr>
        <p:spPr>
          <a:xfrm>
            <a:off x="2326934" y="2674615"/>
            <a:ext cx="2089920" cy="148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 type 3 global · v_g ↔ residues</a:t>
            </a:r>
            <a:endParaRPr lang="en-US" sz="951" dirty="0"/>
          </a:p>
        </p:txBody>
      </p:sp>
      <p:sp>
        <p:nvSpPr>
          <p:cNvPr id="32" name="Shape 30"/>
          <p:cNvSpPr/>
          <p:nvPr/>
        </p:nvSpPr>
        <p:spPr>
          <a:xfrm>
            <a:off x="2596798" y="1647576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082199" y="1647576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567601" y="1647576"/>
            <a:ext cx="188767" cy="9144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 flipV="1">
            <a:off x="2448481" y="1475562"/>
            <a:ext cx="60675" cy="2370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 flipV="1">
            <a:off x="2509156" y="1455020"/>
            <a:ext cx="60675" cy="2054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 flipV="1">
            <a:off x="2569831" y="1437639"/>
            <a:ext cx="60675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 flipV="1">
            <a:off x="2630507" y="1423418"/>
            <a:ext cx="60675" cy="1422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 flipV="1">
            <a:off x="2691181" y="1412359"/>
            <a:ext cx="60675" cy="110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 flipV="1">
            <a:off x="2751857" y="1404455"/>
            <a:ext cx="60675" cy="790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 flipV="1">
            <a:off x="2812531" y="1399715"/>
            <a:ext cx="60675" cy="474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 flipV="1">
            <a:off x="2873206" y="1398134"/>
            <a:ext cx="60675" cy="15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2933880" y="1398134"/>
            <a:ext cx="60675" cy="15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2994557" y="1399715"/>
            <a:ext cx="60675" cy="474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3055232" y="1404455"/>
            <a:ext cx="60675" cy="790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3115907" y="1412359"/>
            <a:ext cx="60675" cy="110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176582" y="1423418"/>
            <a:ext cx="60675" cy="1422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3237256" y="1437639"/>
            <a:ext cx="60675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3297933" y="1455020"/>
            <a:ext cx="60675" cy="2054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3358608" y="1475562"/>
            <a:ext cx="60675" cy="2370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 flipV="1">
            <a:off x="2933880" y="1467660"/>
            <a:ext cx="60675" cy="3160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 flipV="1">
            <a:off x="2994557" y="1440269"/>
            <a:ext cx="60675" cy="273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 flipV="1">
            <a:off x="3055232" y="1417099"/>
            <a:ext cx="60675" cy="2317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 flipV="1">
            <a:off x="3115907" y="1398137"/>
            <a:ext cx="60675" cy="189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 flipV="1">
            <a:off x="3176582" y="1383389"/>
            <a:ext cx="60675" cy="1474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 flipV="1">
            <a:off x="3237256" y="1372857"/>
            <a:ext cx="60675" cy="1053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 flipV="1">
            <a:off x="3297933" y="1366532"/>
            <a:ext cx="60675" cy="632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 flipV="1">
            <a:off x="3358608" y="1364428"/>
            <a:ext cx="60675" cy="210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3419282" y="1364428"/>
            <a:ext cx="60675" cy="210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3479956" y="1366532"/>
            <a:ext cx="60675" cy="632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3540632" y="1372857"/>
            <a:ext cx="60675" cy="1053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3601308" y="1383389"/>
            <a:ext cx="60675" cy="1474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3661983" y="1398137"/>
            <a:ext cx="60675" cy="1896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3722657" y="1417099"/>
            <a:ext cx="60675" cy="23175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3783332" y="1440269"/>
            <a:ext cx="60675" cy="27388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3844008" y="1467660"/>
            <a:ext cx="60675" cy="3160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 flipV="1">
            <a:off x="2448482" y="1447121"/>
            <a:ext cx="91013" cy="5214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 flipV="1">
            <a:off x="2539494" y="1401930"/>
            <a:ext cx="91013" cy="4519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 flipV="1">
            <a:off x="2630507" y="1363691"/>
            <a:ext cx="91013" cy="3823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 flipV="1">
            <a:off x="2721519" y="1332406"/>
            <a:ext cx="91013" cy="3128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 flipV="1">
            <a:off x="2812532" y="1308072"/>
            <a:ext cx="91013" cy="2433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 flipV="1">
            <a:off x="2903544" y="1290692"/>
            <a:ext cx="91013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 flipV="1">
            <a:off x="2994556" y="1280264"/>
            <a:ext cx="91013" cy="1042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 flipV="1">
            <a:off x="3085570" y="1276783"/>
            <a:ext cx="91013" cy="347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3176583" y="1276783"/>
            <a:ext cx="91013" cy="347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3267595" y="1280264"/>
            <a:ext cx="91013" cy="1042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3358608" y="1290692"/>
            <a:ext cx="91013" cy="1738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3449620" y="1308072"/>
            <a:ext cx="91013" cy="2433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3540632" y="1332406"/>
            <a:ext cx="91013" cy="31287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3631646" y="1363691"/>
            <a:ext cx="91013" cy="38239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3722658" y="1401930"/>
            <a:ext cx="91013" cy="45191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3813671" y="1447121"/>
            <a:ext cx="91013" cy="52143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 flipH="1">
            <a:off x="3289085" y="1040825"/>
            <a:ext cx="76265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 flipH="1">
            <a:off x="3215348" y="1066320"/>
            <a:ext cx="73737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 flipH="1">
            <a:off x="3144138" y="1092234"/>
            <a:ext cx="71209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 flipH="1">
            <a:off x="3075457" y="1118565"/>
            <a:ext cx="68681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 flipH="1">
            <a:off x="3009305" y="1145325"/>
            <a:ext cx="66153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 flipH="1">
            <a:off x="2945681" y="1172501"/>
            <a:ext cx="63625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 flipH="1">
            <a:off x="2884579" y="1200097"/>
            <a:ext cx="61096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 flipH="1">
            <a:off x="2826011" y="1228120"/>
            <a:ext cx="58568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 flipH="1">
            <a:off x="2769971" y="1256563"/>
            <a:ext cx="56040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 flipH="1">
            <a:off x="2716459" y="1285422"/>
            <a:ext cx="53512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91"/>
          <p:cNvSpPr/>
          <p:nvPr/>
        </p:nvSpPr>
        <p:spPr>
          <a:xfrm flipH="1">
            <a:off x="2665475" y="1314709"/>
            <a:ext cx="50984" cy="2970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92"/>
          <p:cNvSpPr/>
          <p:nvPr/>
        </p:nvSpPr>
        <p:spPr>
          <a:xfrm flipH="1">
            <a:off x="2617019" y="1344415"/>
            <a:ext cx="48456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hape 93"/>
          <p:cNvSpPr/>
          <p:nvPr/>
        </p:nvSpPr>
        <p:spPr>
          <a:xfrm flipH="1">
            <a:off x="2571091" y="1374538"/>
            <a:ext cx="45928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Shape 94"/>
          <p:cNvSpPr/>
          <p:nvPr/>
        </p:nvSpPr>
        <p:spPr>
          <a:xfrm flipH="1">
            <a:off x="2527691" y="1405089"/>
            <a:ext cx="43400" cy="3097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hape 95"/>
          <p:cNvSpPr/>
          <p:nvPr/>
        </p:nvSpPr>
        <p:spPr>
          <a:xfrm flipH="1">
            <a:off x="2486826" y="1436061"/>
            <a:ext cx="40871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hape 96"/>
          <p:cNvSpPr/>
          <p:nvPr/>
        </p:nvSpPr>
        <p:spPr>
          <a:xfrm flipH="1">
            <a:off x="2448482" y="1467447"/>
            <a:ext cx="38343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hape 97"/>
          <p:cNvSpPr/>
          <p:nvPr/>
        </p:nvSpPr>
        <p:spPr>
          <a:xfrm flipH="1">
            <a:off x="3325742" y="1040825"/>
            <a:ext cx="39607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Shape 98"/>
          <p:cNvSpPr/>
          <p:nvPr/>
        </p:nvSpPr>
        <p:spPr>
          <a:xfrm flipH="1">
            <a:off x="3287818" y="1066320"/>
            <a:ext cx="37923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9"/>
          <p:cNvSpPr/>
          <p:nvPr/>
        </p:nvSpPr>
        <p:spPr>
          <a:xfrm flipH="1">
            <a:off x="3251584" y="1092234"/>
            <a:ext cx="36237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Shape 100"/>
          <p:cNvSpPr/>
          <p:nvPr/>
        </p:nvSpPr>
        <p:spPr>
          <a:xfrm flipH="1">
            <a:off x="3217034" y="1118565"/>
            <a:ext cx="34551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101"/>
          <p:cNvSpPr/>
          <p:nvPr/>
        </p:nvSpPr>
        <p:spPr>
          <a:xfrm flipH="1">
            <a:off x="3184164" y="1145325"/>
            <a:ext cx="32867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Shape 102"/>
          <p:cNvSpPr/>
          <p:nvPr/>
        </p:nvSpPr>
        <p:spPr>
          <a:xfrm flipH="1">
            <a:off x="3152984" y="1172501"/>
            <a:ext cx="31180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hape 103"/>
          <p:cNvSpPr/>
          <p:nvPr/>
        </p:nvSpPr>
        <p:spPr>
          <a:xfrm flipH="1">
            <a:off x="3123492" y="1200097"/>
            <a:ext cx="29495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Shape 104"/>
          <p:cNvSpPr/>
          <p:nvPr/>
        </p:nvSpPr>
        <p:spPr>
          <a:xfrm flipH="1">
            <a:off x="3095683" y="1228120"/>
            <a:ext cx="27809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hape 105"/>
          <p:cNvSpPr/>
          <p:nvPr/>
        </p:nvSpPr>
        <p:spPr>
          <a:xfrm flipH="1">
            <a:off x="3069555" y="1256563"/>
            <a:ext cx="26124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Shape 106"/>
          <p:cNvSpPr/>
          <p:nvPr/>
        </p:nvSpPr>
        <p:spPr>
          <a:xfrm flipH="1">
            <a:off x="3045120" y="1285422"/>
            <a:ext cx="24439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hape 107"/>
          <p:cNvSpPr/>
          <p:nvPr/>
        </p:nvSpPr>
        <p:spPr>
          <a:xfrm flipH="1">
            <a:off x="3022368" y="1314709"/>
            <a:ext cx="22753" cy="2970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Shape 108"/>
          <p:cNvSpPr/>
          <p:nvPr/>
        </p:nvSpPr>
        <p:spPr>
          <a:xfrm flipH="1">
            <a:off x="3001295" y="1344415"/>
            <a:ext cx="21068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hape 109"/>
          <p:cNvSpPr/>
          <p:nvPr/>
        </p:nvSpPr>
        <p:spPr>
          <a:xfrm flipH="1">
            <a:off x="2981917" y="1374538"/>
            <a:ext cx="19383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Shape 110"/>
          <p:cNvSpPr/>
          <p:nvPr/>
        </p:nvSpPr>
        <p:spPr>
          <a:xfrm flipH="1">
            <a:off x="2964221" y="1405089"/>
            <a:ext cx="17697" cy="3097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hape 111"/>
          <p:cNvSpPr/>
          <p:nvPr/>
        </p:nvSpPr>
        <p:spPr>
          <a:xfrm flipH="1">
            <a:off x="2948208" y="1436061"/>
            <a:ext cx="16011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Shape 112"/>
          <p:cNvSpPr/>
          <p:nvPr/>
        </p:nvSpPr>
        <p:spPr>
          <a:xfrm flipH="1">
            <a:off x="2933882" y="1467447"/>
            <a:ext cx="14327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hape 113"/>
          <p:cNvSpPr/>
          <p:nvPr/>
        </p:nvSpPr>
        <p:spPr>
          <a:xfrm>
            <a:off x="3365350" y="1040825"/>
            <a:ext cx="38133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Shape 114"/>
          <p:cNvSpPr/>
          <p:nvPr/>
        </p:nvSpPr>
        <p:spPr>
          <a:xfrm>
            <a:off x="3403480" y="1066320"/>
            <a:ext cx="33499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hape 115"/>
          <p:cNvSpPr/>
          <p:nvPr/>
        </p:nvSpPr>
        <p:spPr>
          <a:xfrm>
            <a:off x="3436981" y="1092234"/>
            <a:ext cx="28863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Shape 116"/>
          <p:cNvSpPr/>
          <p:nvPr/>
        </p:nvSpPr>
        <p:spPr>
          <a:xfrm>
            <a:off x="3465840" y="1118565"/>
            <a:ext cx="24228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hape 117"/>
          <p:cNvSpPr/>
          <p:nvPr/>
        </p:nvSpPr>
        <p:spPr>
          <a:xfrm>
            <a:off x="3490072" y="1145325"/>
            <a:ext cx="19593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Shape 118"/>
          <p:cNvSpPr/>
          <p:nvPr/>
        </p:nvSpPr>
        <p:spPr>
          <a:xfrm>
            <a:off x="3509662" y="1172501"/>
            <a:ext cx="14959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hape 119"/>
          <p:cNvSpPr/>
          <p:nvPr/>
        </p:nvSpPr>
        <p:spPr>
          <a:xfrm>
            <a:off x="3524621" y="1200097"/>
            <a:ext cx="10323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Shape 120"/>
          <p:cNvSpPr/>
          <p:nvPr/>
        </p:nvSpPr>
        <p:spPr>
          <a:xfrm>
            <a:off x="3534941" y="1228120"/>
            <a:ext cx="5688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hape 121"/>
          <p:cNvSpPr/>
          <p:nvPr/>
        </p:nvSpPr>
        <p:spPr>
          <a:xfrm>
            <a:off x="3540631" y="1256563"/>
            <a:ext cx="1053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Shape 122"/>
          <p:cNvSpPr/>
          <p:nvPr/>
        </p:nvSpPr>
        <p:spPr>
          <a:xfrm flipH="1">
            <a:off x="3538105" y="1285422"/>
            <a:ext cx="3583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hape 123"/>
          <p:cNvSpPr/>
          <p:nvPr/>
        </p:nvSpPr>
        <p:spPr>
          <a:xfrm flipH="1">
            <a:off x="3529885" y="1314709"/>
            <a:ext cx="8216" cy="2970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Shape 124"/>
          <p:cNvSpPr/>
          <p:nvPr/>
        </p:nvSpPr>
        <p:spPr>
          <a:xfrm flipH="1">
            <a:off x="3517037" y="1344415"/>
            <a:ext cx="12851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hape 125"/>
          <p:cNvSpPr/>
          <p:nvPr/>
        </p:nvSpPr>
        <p:spPr>
          <a:xfrm flipH="1">
            <a:off x="3499550" y="1374538"/>
            <a:ext cx="17487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Shape 126"/>
          <p:cNvSpPr/>
          <p:nvPr/>
        </p:nvSpPr>
        <p:spPr>
          <a:xfrm flipH="1">
            <a:off x="3477430" y="1405089"/>
            <a:ext cx="22121" cy="3097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hape 127"/>
          <p:cNvSpPr/>
          <p:nvPr/>
        </p:nvSpPr>
        <p:spPr>
          <a:xfrm flipH="1">
            <a:off x="3450670" y="1436061"/>
            <a:ext cx="26756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Shape 128"/>
          <p:cNvSpPr/>
          <p:nvPr/>
        </p:nvSpPr>
        <p:spPr>
          <a:xfrm flipH="1">
            <a:off x="3419283" y="1467447"/>
            <a:ext cx="31391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hape 129"/>
          <p:cNvSpPr/>
          <p:nvPr/>
        </p:nvSpPr>
        <p:spPr>
          <a:xfrm>
            <a:off x="3365350" y="1040825"/>
            <a:ext cx="74791" cy="2549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Shape 130"/>
          <p:cNvSpPr/>
          <p:nvPr/>
        </p:nvSpPr>
        <p:spPr>
          <a:xfrm>
            <a:off x="3440141" y="1066320"/>
            <a:ext cx="69313" cy="2591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Shape 131"/>
          <p:cNvSpPr/>
          <p:nvPr/>
        </p:nvSpPr>
        <p:spPr>
          <a:xfrm>
            <a:off x="3509453" y="1092234"/>
            <a:ext cx="63835" cy="26335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Shape 132"/>
          <p:cNvSpPr/>
          <p:nvPr/>
        </p:nvSpPr>
        <p:spPr>
          <a:xfrm>
            <a:off x="3573286" y="1118565"/>
            <a:ext cx="58359" cy="26756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Shape 133"/>
          <p:cNvSpPr/>
          <p:nvPr/>
        </p:nvSpPr>
        <p:spPr>
          <a:xfrm>
            <a:off x="3631641" y="1145325"/>
            <a:ext cx="52880" cy="2717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Shape 134"/>
          <p:cNvSpPr/>
          <p:nvPr/>
        </p:nvSpPr>
        <p:spPr>
          <a:xfrm>
            <a:off x="3684525" y="1172501"/>
            <a:ext cx="47403" cy="27599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Shape 135"/>
          <p:cNvSpPr/>
          <p:nvPr/>
        </p:nvSpPr>
        <p:spPr>
          <a:xfrm>
            <a:off x="3731927" y="1200097"/>
            <a:ext cx="41925" cy="2802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Shape 136"/>
          <p:cNvSpPr/>
          <p:nvPr/>
        </p:nvSpPr>
        <p:spPr>
          <a:xfrm>
            <a:off x="3773854" y="1228120"/>
            <a:ext cx="36447" cy="2844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Shape 137"/>
          <p:cNvSpPr/>
          <p:nvPr/>
        </p:nvSpPr>
        <p:spPr>
          <a:xfrm>
            <a:off x="3810299" y="1256563"/>
            <a:ext cx="30971" cy="2886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Shape 138"/>
          <p:cNvSpPr/>
          <p:nvPr/>
        </p:nvSpPr>
        <p:spPr>
          <a:xfrm>
            <a:off x="3841266" y="1285422"/>
            <a:ext cx="25492" cy="29284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Shape 139"/>
          <p:cNvSpPr/>
          <p:nvPr/>
        </p:nvSpPr>
        <p:spPr>
          <a:xfrm>
            <a:off x="3866762" y="1314709"/>
            <a:ext cx="20015" cy="2970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Shape 140"/>
          <p:cNvSpPr/>
          <p:nvPr/>
        </p:nvSpPr>
        <p:spPr>
          <a:xfrm>
            <a:off x="3886777" y="1344415"/>
            <a:ext cx="14537" cy="30127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Shape 141"/>
          <p:cNvSpPr/>
          <p:nvPr/>
        </p:nvSpPr>
        <p:spPr>
          <a:xfrm>
            <a:off x="3901312" y="1374538"/>
            <a:ext cx="9059" cy="30548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Shape 142"/>
          <p:cNvSpPr/>
          <p:nvPr/>
        </p:nvSpPr>
        <p:spPr>
          <a:xfrm>
            <a:off x="3910371" y="1405089"/>
            <a:ext cx="3583" cy="3097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Shape 143"/>
          <p:cNvSpPr/>
          <p:nvPr/>
        </p:nvSpPr>
        <p:spPr>
          <a:xfrm flipH="1">
            <a:off x="3912052" y="1436061"/>
            <a:ext cx="1896" cy="3139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Shape 144"/>
          <p:cNvSpPr/>
          <p:nvPr/>
        </p:nvSpPr>
        <p:spPr>
          <a:xfrm flipH="1">
            <a:off x="3904682" y="1467447"/>
            <a:ext cx="7375" cy="3181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Shape 145"/>
          <p:cNvSpPr/>
          <p:nvPr/>
        </p:nvSpPr>
        <p:spPr>
          <a:xfrm>
            <a:off x="4339327" y="326209"/>
            <a:ext cx="1998393" cy="2737121"/>
          </a:xfrm>
          <a:prstGeom prst="roundRect">
            <a:avLst>
              <a:gd name="adj" fmla="val 84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Text 146"/>
          <p:cNvSpPr/>
          <p:nvPr/>
        </p:nvSpPr>
        <p:spPr>
          <a:xfrm>
            <a:off x="4403375" y="326208"/>
            <a:ext cx="2022503" cy="20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Encoding</a:t>
            </a:r>
            <a:endParaRPr lang="en-US" sz="1151" dirty="0"/>
          </a:p>
        </p:txBody>
      </p:sp>
      <p:sp>
        <p:nvSpPr>
          <p:cNvPr id="149" name="Shape 147"/>
          <p:cNvSpPr/>
          <p:nvPr/>
        </p:nvSpPr>
        <p:spPr>
          <a:xfrm>
            <a:off x="4470787" y="733762"/>
            <a:ext cx="1833736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Text 148"/>
          <p:cNvSpPr/>
          <p:nvPr/>
        </p:nvSpPr>
        <p:spPr>
          <a:xfrm>
            <a:off x="4470787" y="744191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encoding: AA ⊕ pos ⊕ physchem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4470787" y="1445326"/>
            <a:ext cx="1833736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Text 150"/>
          <p:cNvSpPr/>
          <p:nvPr/>
        </p:nvSpPr>
        <p:spPr>
          <a:xfrm>
            <a:off x="4470787" y="1445326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encoding: type ⊕ dist ⊕ attrs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4470787" y="2146459"/>
            <a:ext cx="1833736" cy="593268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Text 152"/>
          <p:cNvSpPr/>
          <p:nvPr/>
        </p:nvSpPr>
        <p:spPr>
          <a:xfrm>
            <a:off x="4470787" y="2146459"/>
            <a:ext cx="1833736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node emb. + condition vector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6454832" y="312723"/>
            <a:ext cx="1671936" cy="2750604"/>
          </a:xfrm>
          <a:prstGeom prst="roundRect">
            <a:avLst>
              <a:gd name="adj" fmla="val 109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Text 154"/>
          <p:cNvSpPr/>
          <p:nvPr/>
        </p:nvSpPr>
        <p:spPr>
          <a:xfrm>
            <a:off x="6506778" y="326208"/>
            <a:ext cx="1537103" cy="20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FiLM conditioning</a:t>
            </a:r>
            <a:endParaRPr lang="en-US" sz="1151" dirty="0"/>
          </a:p>
        </p:txBody>
      </p:sp>
      <p:sp>
        <p:nvSpPr>
          <p:cNvPr id="157" name="Shape 155"/>
          <p:cNvSpPr/>
          <p:nvPr/>
        </p:nvSpPr>
        <p:spPr>
          <a:xfrm>
            <a:off x="6574195" y="744193"/>
            <a:ext cx="1348335" cy="296635"/>
          </a:xfrm>
          <a:prstGeom prst="roundRect">
            <a:avLst>
              <a:gd name="adj" fmla="val 616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Text 156"/>
          <p:cNvSpPr/>
          <p:nvPr/>
        </p:nvSpPr>
        <p:spPr>
          <a:xfrm>
            <a:off x="6574195" y="744193"/>
            <a:ext cx="1348335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charge, NCE ]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6843862" y="1229591"/>
            <a:ext cx="809001" cy="323600"/>
          </a:xfrm>
          <a:prstGeom prst="roundRect">
            <a:avLst>
              <a:gd name="adj" fmla="val 5651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Text 158"/>
          <p:cNvSpPr/>
          <p:nvPr/>
        </p:nvSpPr>
        <p:spPr>
          <a:xfrm>
            <a:off x="6843862" y="1229591"/>
            <a:ext cx="809001" cy="32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1" dirty="0"/>
          </a:p>
        </p:txBody>
      </p:sp>
      <p:sp>
        <p:nvSpPr>
          <p:cNvPr id="161" name="Shape 159"/>
          <p:cNvSpPr/>
          <p:nvPr/>
        </p:nvSpPr>
        <p:spPr>
          <a:xfrm>
            <a:off x="6574193" y="1795897"/>
            <a:ext cx="539335" cy="269667"/>
          </a:xfrm>
          <a:prstGeom prst="roundRect">
            <a:avLst>
              <a:gd name="adj" fmla="val 6782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Text 160"/>
          <p:cNvSpPr/>
          <p:nvPr/>
        </p:nvSpPr>
        <p:spPr>
          <a:xfrm>
            <a:off x="6574193" y="1795897"/>
            <a:ext cx="539335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7383194" y="1795897"/>
            <a:ext cx="539335" cy="269667"/>
          </a:xfrm>
          <a:prstGeom prst="roundRect">
            <a:avLst>
              <a:gd name="adj" fmla="val 6782"/>
            </a:avLst>
          </a:prstGeom>
          <a:solidFill>
            <a:srgbClr val="FECAC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Text 162"/>
          <p:cNvSpPr/>
          <p:nvPr/>
        </p:nvSpPr>
        <p:spPr>
          <a:xfrm>
            <a:off x="7383194" y="1795897"/>
            <a:ext cx="539335" cy="2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00" dirty="0"/>
          </a:p>
        </p:txBody>
      </p:sp>
      <p:sp>
        <p:nvSpPr>
          <p:cNvPr id="165" name="Shape 163"/>
          <p:cNvSpPr/>
          <p:nvPr/>
        </p:nvSpPr>
        <p:spPr>
          <a:xfrm>
            <a:off x="6574195" y="2281294"/>
            <a:ext cx="1348335" cy="593268"/>
          </a:xfrm>
          <a:prstGeom prst="roundRect">
            <a:avLst>
              <a:gd name="adj" fmla="val 30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Text 164"/>
          <p:cNvSpPr/>
          <p:nvPr/>
        </p:nvSpPr>
        <p:spPr>
          <a:xfrm>
            <a:off x="6574195" y="2281294"/>
            <a:ext cx="1348335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← (1 + γ) · h + β</a:t>
            </a:r>
            <a:endParaRPr lang="en-US" sz="1100" dirty="0"/>
          </a:p>
        </p:txBody>
      </p:sp>
      <p:sp>
        <p:nvSpPr>
          <p:cNvPr id="167" name="Shape 165"/>
          <p:cNvSpPr/>
          <p:nvPr/>
        </p:nvSpPr>
        <p:spPr>
          <a:xfrm>
            <a:off x="7248359" y="1040830"/>
            <a:ext cx="9144" cy="1887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Shape 166"/>
          <p:cNvSpPr/>
          <p:nvPr/>
        </p:nvSpPr>
        <p:spPr>
          <a:xfrm flipH="1">
            <a:off x="6843862" y="1553191"/>
            <a:ext cx="404501" cy="2427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Shape 167"/>
          <p:cNvSpPr/>
          <p:nvPr/>
        </p:nvSpPr>
        <p:spPr>
          <a:xfrm>
            <a:off x="7248363" y="1553191"/>
            <a:ext cx="404501" cy="2427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Shape 168"/>
          <p:cNvSpPr/>
          <p:nvPr/>
        </p:nvSpPr>
        <p:spPr>
          <a:xfrm>
            <a:off x="6843857" y="2065563"/>
            <a:ext cx="9144" cy="215735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Shape 169"/>
          <p:cNvSpPr/>
          <p:nvPr/>
        </p:nvSpPr>
        <p:spPr>
          <a:xfrm>
            <a:off x="7652860" y="2065563"/>
            <a:ext cx="9144" cy="215735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Shape 170"/>
          <p:cNvSpPr/>
          <p:nvPr/>
        </p:nvSpPr>
        <p:spPr>
          <a:xfrm>
            <a:off x="8295190" y="312723"/>
            <a:ext cx="1585282" cy="2750604"/>
          </a:xfrm>
          <a:prstGeom prst="roundRect">
            <a:avLst>
              <a:gd name="adj" fmla="val 109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Text 171"/>
          <p:cNvSpPr/>
          <p:nvPr/>
        </p:nvSpPr>
        <p:spPr>
          <a:xfrm>
            <a:off x="8343369" y="326208"/>
            <a:ext cx="1537103" cy="20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Message passing</a:t>
            </a:r>
            <a:endParaRPr lang="en-US" sz="1151" dirty="0"/>
          </a:p>
        </p:txBody>
      </p:sp>
      <p:sp>
        <p:nvSpPr>
          <p:cNvPr id="174" name="Shape 172"/>
          <p:cNvSpPr/>
          <p:nvPr/>
        </p:nvSpPr>
        <p:spPr>
          <a:xfrm>
            <a:off x="8410786" y="727054"/>
            <a:ext cx="1348335" cy="701135"/>
          </a:xfrm>
          <a:prstGeom prst="roundRect">
            <a:avLst>
              <a:gd name="adj" fmla="val 26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Text 173"/>
          <p:cNvSpPr/>
          <p:nvPr/>
        </p:nvSpPr>
        <p:spPr>
          <a:xfrm>
            <a:off x="8410786" y="744194"/>
            <a:ext cx="1348335" cy="70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GCN</a:t>
            </a:r>
            <a:endParaRPr lang="en-US" sz="1151" dirty="0"/>
          </a:p>
        </p:txBody>
      </p:sp>
      <p:sp>
        <p:nvSpPr>
          <p:cNvPr id="176" name="Shape 174"/>
          <p:cNvSpPr/>
          <p:nvPr/>
        </p:nvSpPr>
        <p:spPr>
          <a:xfrm>
            <a:off x="8410786" y="1553195"/>
            <a:ext cx="1348335" cy="701135"/>
          </a:xfrm>
          <a:prstGeom prst="roundRect">
            <a:avLst>
              <a:gd name="adj" fmla="val 26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Text 175"/>
          <p:cNvSpPr/>
          <p:nvPr/>
        </p:nvSpPr>
        <p:spPr>
          <a:xfrm>
            <a:off x="8410786" y="1553195"/>
            <a:ext cx="1348335" cy="701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1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GAT</a:t>
            </a:r>
            <a:endParaRPr lang="en-US" sz="1151" dirty="0"/>
          </a:p>
        </p:txBody>
      </p:sp>
      <p:sp>
        <p:nvSpPr>
          <p:cNvPr id="178" name="Text 176"/>
          <p:cNvSpPr/>
          <p:nvPr/>
        </p:nvSpPr>
        <p:spPr>
          <a:xfrm>
            <a:off x="8410786" y="2362194"/>
            <a:ext cx="1348335" cy="175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(residual + LayerNorm)</a:t>
            </a:r>
            <a:endParaRPr lang="en-US" sz="951" dirty="0"/>
          </a:p>
        </p:txBody>
      </p:sp>
      <p:sp>
        <p:nvSpPr>
          <p:cNvPr id="179" name="Shape 177"/>
          <p:cNvSpPr/>
          <p:nvPr/>
        </p:nvSpPr>
        <p:spPr>
          <a:xfrm>
            <a:off x="9084949" y="1445329"/>
            <a:ext cx="9144" cy="1078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Shape 178"/>
          <p:cNvSpPr/>
          <p:nvPr/>
        </p:nvSpPr>
        <p:spPr>
          <a:xfrm>
            <a:off x="10085552" y="312723"/>
            <a:ext cx="1725869" cy="2750604"/>
          </a:xfrm>
          <a:prstGeom prst="roundRect">
            <a:avLst>
              <a:gd name="adj" fmla="val 106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Text 179"/>
          <p:cNvSpPr/>
          <p:nvPr/>
        </p:nvSpPr>
        <p:spPr>
          <a:xfrm>
            <a:off x="10179932" y="326208"/>
            <a:ext cx="1591036" cy="20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1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 Prediction</a:t>
            </a:r>
            <a:endParaRPr lang="en-US" sz="1151" dirty="0"/>
          </a:p>
        </p:txBody>
      </p:sp>
      <p:sp>
        <p:nvSpPr>
          <p:cNvPr id="182" name="Shape 180"/>
          <p:cNvSpPr/>
          <p:nvPr/>
        </p:nvSpPr>
        <p:spPr>
          <a:xfrm>
            <a:off x="10247352" y="744194"/>
            <a:ext cx="1402269" cy="539335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Text 181"/>
          <p:cNvSpPr/>
          <p:nvPr/>
        </p:nvSpPr>
        <p:spPr>
          <a:xfrm>
            <a:off x="10247352" y="744194"/>
            <a:ext cx="1402269" cy="539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(+15-d theory)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10409149" y="1472295"/>
            <a:ext cx="1078668" cy="296635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Text 183"/>
          <p:cNvSpPr/>
          <p:nvPr/>
        </p:nvSpPr>
        <p:spPr>
          <a:xfrm>
            <a:off x="10409149" y="1472295"/>
            <a:ext cx="1078668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1" dirty="0"/>
          </a:p>
        </p:txBody>
      </p:sp>
      <p:sp>
        <p:nvSpPr>
          <p:cNvPr id="186" name="Shape 184"/>
          <p:cNvSpPr/>
          <p:nvPr/>
        </p:nvSpPr>
        <p:spPr>
          <a:xfrm>
            <a:off x="10409149" y="1903763"/>
            <a:ext cx="1078668" cy="296635"/>
          </a:xfrm>
          <a:prstGeom prst="roundRect">
            <a:avLst>
              <a:gd name="adj" fmla="val 616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Text 185"/>
          <p:cNvSpPr/>
          <p:nvPr/>
        </p:nvSpPr>
        <p:spPr>
          <a:xfrm>
            <a:off x="10409149" y="1903763"/>
            <a:ext cx="1078668" cy="296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1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1051" dirty="0"/>
          </a:p>
        </p:txBody>
      </p:sp>
      <p:sp>
        <p:nvSpPr>
          <p:cNvPr id="188" name="Shape 186"/>
          <p:cNvSpPr/>
          <p:nvPr/>
        </p:nvSpPr>
        <p:spPr>
          <a:xfrm>
            <a:off x="10247352" y="2362193"/>
            <a:ext cx="1402269" cy="512368"/>
          </a:xfrm>
          <a:prstGeom prst="roundRect">
            <a:avLst>
              <a:gd name="adj" fmla="val 308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Text 187"/>
          <p:cNvSpPr/>
          <p:nvPr/>
        </p:nvSpPr>
        <p:spPr>
          <a:xfrm>
            <a:off x="10247352" y="2362194"/>
            <a:ext cx="1402269" cy="59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probability p_i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10948484" y="1283530"/>
            <a:ext cx="9144" cy="188767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Shape 189"/>
          <p:cNvSpPr/>
          <p:nvPr/>
        </p:nvSpPr>
        <p:spPr>
          <a:xfrm>
            <a:off x="10948484" y="1768928"/>
            <a:ext cx="9144" cy="134835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Shape 190"/>
          <p:cNvSpPr/>
          <p:nvPr/>
        </p:nvSpPr>
        <p:spPr>
          <a:xfrm>
            <a:off x="10948484" y="2200393"/>
            <a:ext cx="9144" cy="16180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Shape 191"/>
          <p:cNvSpPr/>
          <p:nvPr/>
        </p:nvSpPr>
        <p:spPr>
          <a:xfrm flipV="1">
            <a:off x="1828054" y="900938"/>
            <a:ext cx="1335047" cy="193823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Shape 192"/>
          <p:cNvSpPr/>
          <p:nvPr/>
        </p:nvSpPr>
        <p:spPr>
          <a:xfrm flipV="1">
            <a:off x="4187835" y="1040829"/>
            <a:ext cx="282957" cy="60675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Shape 193"/>
          <p:cNvSpPr/>
          <p:nvPr/>
        </p:nvSpPr>
        <p:spPr>
          <a:xfrm flipV="1">
            <a:off x="6304528" y="892511"/>
            <a:ext cx="269667" cy="1550587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Shape 194"/>
          <p:cNvSpPr/>
          <p:nvPr/>
        </p:nvSpPr>
        <p:spPr>
          <a:xfrm flipV="1">
            <a:off x="7922525" y="1066320"/>
            <a:ext cx="488256" cy="151161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Shape 195"/>
          <p:cNvSpPr/>
          <p:nvPr/>
        </p:nvSpPr>
        <p:spPr>
          <a:xfrm flipV="1">
            <a:off x="9864129" y="959928"/>
            <a:ext cx="383220" cy="1294403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</TotalTime>
  <Words>163</Words>
  <Application>Microsoft Office PowerPoint</Application>
  <PresentationFormat>自定义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主题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GS J</cp:lastModifiedBy>
  <cp:revision>3</cp:revision>
  <dcterms:created xsi:type="dcterms:W3CDTF">2026-09-21T09:31:28Z</dcterms:created>
  <dcterms:modified xsi:type="dcterms:W3CDTF">2026-09-28T05:22:02Z</dcterms:modified>
</cp:coreProperties>
</file>